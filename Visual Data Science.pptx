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7" r:id="rId1"/>
  </p:sldMasterIdLst>
  <p:notesMasterIdLst>
    <p:notesMasterId r:id="rId32"/>
  </p:notesMasterIdLst>
  <p:sldIdLst>
    <p:sldId id="256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8" r:id="rId16"/>
    <p:sldId id="291" r:id="rId17"/>
    <p:sldId id="290" r:id="rId18"/>
    <p:sldId id="279" r:id="rId19"/>
    <p:sldId id="280" r:id="rId20"/>
    <p:sldId id="288" r:id="rId21"/>
    <p:sldId id="281" r:id="rId22"/>
    <p:sldId id="282" r:id="rId23"/>
    <p:sldId id="287" r:id="rId24"/>
    <p:sldId id="284" r:id="rId25"/>
    <p:sldId id="289" r:id="rId26"/>
    <p:sldId id="292" r:id="rId27"/>
    <p:sldId id="294" r:id="rId28"/>
    <p:sldId id="293" r:id="rId29"/>
    <p:sldId id="285" r:id="rId30"/>
    <p:sldId id="286" r:id="rId31"/>
  </p:sldIdLst>
  <p:sldSz cx="9144000" cy="6858000" type="screen4x3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Cabin" panose="020B0604020202020204" charset="0"/>
      <p:regular r:id="rId37"/>
      <p:bold r:id="rId38"/>
      <p:italic r:id="rId39"/>
      <p:boldItalic r:id="rId40"/>
    </p:embeddedFont>
    <p:embeddedFont>
      <p:font typeface="Open Sans" panose="020B0604020202020204" charset="0"/>
      <p:regular r:id="rId41"/>
      <p:bold r:id="rId42"/>
      <p:italic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39" autoAdjust="0"/>
  </p:normalViewPr>
  <p:slideViewPr>
    <p:cSldViewPr>
      <p:cViewPr varScale="1">
        <p:scale>
          <a:sx n="70" d="100"/>
          <a:sy n="70" d="100"/>
        </p:scale>
        <p:origin x="636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11538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1902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font" Target="fonts/font11.fntdata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799" cy="45878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884612" y="0"/>
            <a:ext cx="2971799" cy="45878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099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799" cy="45878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87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74896615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Shape 147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48" name="Shape 148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Shape 14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87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527720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Shape 213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14" name="Shape 214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70757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219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20" name="Shape 220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Shape 221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87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64709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227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28" name="Shape 228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108592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233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34" name="Shape 234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65324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239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40" name="Shape 240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585193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245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46" name="Shape 246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111651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251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52" name="Shape 252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605505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Shape 257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58" name="Shape 258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276392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Shape 263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64" name="Shape 264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54747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Shape 269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70" name="Shape 270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180607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Shape 276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77" name="Shape 277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725949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Shape 282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83" name="Shape 28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918913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Shape 288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89" name="Shape 289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67063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Shape 299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00" name="Shape 300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78110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219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20" name="Shape 220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Shape 221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87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874853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Shape 213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14" name="Shape 214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676196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Shape 305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06" name="Shape 306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480558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Shape 312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13" name="Shape 31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369262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233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34" name="Shape 234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939436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Shape 318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19" name="Shape 319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338439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324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25" name="Shape 325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60290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324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25" name="Shape 325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14097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Shape 342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43" name="Shape 34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44699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Shape 299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00" name="Shape 300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125445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219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20" name="Shape 220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Shape 221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87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27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76304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Shape 349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dirty="0"/>
          </a:p>
        </p:txBody>
      </p:sp>
      <p:sp>
        <p:nvSpPr>
          <p:cNvPr id="350" name="Shape 350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099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271830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Shape 355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56" name="Shape 356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099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893240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/>
          <p:nvPr/>
        </p:nvSpPr>
        <p:spPr>
          <a:xfrm>
            <a:off x="0" y="1122362"/>
            <a:ext cx="9144000" cy="2387600"/>
          </a:xfrm>
          <a:prstGeom prst="rect">
            <a:avLst/>
          </a:prstGeom>
          <a:solidFill>
            <a:srgbClr val="E03A3E"/>
          </a:solidFill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buNone/>
            </a:pPr>
            <a:endParaRPr sz="1800" b="0" i="0" u="none" strike="noStrike" cap="none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7" name="Shape 17"/>
          <p:cNvSpPr txBox="1">
            <a:spLocks noGrp="1"/>
          </p:cNvSpPr>
          <p:nvPr>
            <p:ph type="ctrTitle"/>
          </p:nvPr>
        </p:nvSpPr>
        <p:spPr>
          <a:xfrm>
            <a:off x="685800" y="1122362"/>
            <a:ext cx="7772400" cy="2387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ctr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Font typeface="Cabin"/>
              <a:buNone/>
              <a:defRPr sz="6000" b="0" i="0" u="none" strike="noStrike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/>
          </a:p>
        </p:txBody>
      </p:sp>
      <p:sp>
        <p:nvSpPr>
          <p:cNvPr id="18" name="Shape 18"/>
          <p:cNvSpPr txBox="1">
            <a:spLocks noGrp="1"/>
          </p:cNvSpPr>
          <p:nvPr>
            <p:ph type="subTitle" idx="1"/>
          </p:nvPr>
        </p:nvSpPr>
        <p:spPr>
          <a:xfrm>
            <a:off x="1143000" y="3602037"/>
            <a:ext cx="6858000" cy="1655761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ctr" rtl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Font typeface="Noto Sans Symbols"/>
              <a:buNone/>
              <a:defRPr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ctr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ctr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ctr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ctr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ctr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ctr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ctr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ctr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19" name="Shape 19"/>
          <p:cNvSpPr/>
          <p:nvPr/>
        </p:nvSpPr>
        <p:spPr>
          <a:xfrm>
            <a:off x="3048000" y="685799"/>
            <a:ext cx="4800600" cy="30237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INST </a:t>
            </a:r>
            <a:r>
              <a:rPr lang="en-US" sz="1800" b="0" i="0" u="none" strike="noStrike" cap="none" dirty="0" smtClean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762 –Visual Analytics</a:t>
            </a:r>
            <a:endParaRPr lang="en-US" sz="1800" b="0" i="0" u="none" strike="noStrike" cap="none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 Layout">
    <p:bg>
      <p:bgPr>
        <a:solidFill>
          <a:srgbClr val="E03A3E"/>
        </a:solid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21"/>
          <p:cNvSpPr txBox="1">
            <a:spLocks noGrp="1"/>
          </p:cNvSpPr>
          <p:nvPr>
            <p:ph type="title"/>
          </p:nvPr>
        </p:nvSpPr>
        <p:spPr>
          <a:xfrm>
            <a:off x="628650" y="2242857"/>
            <a:ext cx="7886700" cy="237228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ctr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Font typeface="Cabin"/>
              <a:buNone/>
              <a:defRPr sz="4400" b="0" i="0" u="none" strike="noStrike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/>
          <p:nvPr/>
        </p:nvSpPr>
        <p:spPr>
          <a:xfrm>
            <a:off x="0" y="0"/>
            <a:ext cx="9144000" cy="1690688"/>
          </a:xfrm>
          <a:prstGeom prst="rect">
            <a:avLst/>
          </a:prstGeom>
          <a:solidFill>
            <a:srgbClr val="E03A3E"/>
          </a:solidFill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buNone/>
            </a:pPr>
            <a:endParaRPr sz="1800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4" name="Shape 24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Font typeface="Cabin"/>
              <a:buNone/>
              <a:defRPr sz="4400" b="0" i="0" u="none" strike="noStrike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/>
          </a:p>
        </p:txBody>
      </p:sp>
      <p:sp>
        <p:nvSpPr>
          <p:cNvPr id="25" name="Shape 25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28600" marR="0" lvl="0" indent="-50800" algn="l" rtl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685800" marR="0" lvl="1" indent="-762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143000" marR="0" lvl="2" indent="-1016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600200" marR="0" lvl="3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057400" marR="0" lvl="4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514600" marR="0" lvl="5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971800" marR="0" lvl="6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429000" marR="0" lvl="7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886200" marR="0" lvl="8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26" name="Shape 26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27" name="Shape 27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099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ct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28" name="Shape 28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1682277" cy="36512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rPr>
              <a:t>‹#›</a:t>
            </a:fld>
            <a:endParaRPr lang="en-US" sz="1200">
              <a:solidFill>
                <a:srgbClr val="888888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29" name="Shape 2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140227" y="5854698"/>
            <a:ext cx="91395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Shape 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22" y="5854698"/>
            <a:ext cx="914368" cy="91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33"/>
          <p:cNvSpPr/>
          <p:nvPr/>
        </p:nvSpPr>
        <p:spPr>
          <a:xfrm>
            <a:off x="-4761" y="2691113"/>
            <a:ext cx="9144000" cy="1868328"/>
          </a:xfrm>
          <a:prstGeom prst="rect">
            <a:avLst/>
          </a:prstGeom>
          <a:solidFill>
            <a:srgbClr val="E03A3E"/>
          </a:solidFill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buNone/>
            </a:pPr>
            <a:endParaRPr sz="1800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34" name="Shape 34"/>
          <p:cNvSpPr txBox="1">
            <a:spLocks noGrp="1"/>
          </p:cNvSpPr>
          <p:nvPr>
            <p:ph type="title"/>
          </p:nvPr>
        </p:nvSpPr>
        <p:spPr>
          <a:xfrm>
            <a:off x="623887" y="1709739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Font typeface="Cabin"/>
              <a:buNone/>
              <a:defRPr sz="6000" b="0" i="0" u="none" strike="noStrike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/>
          </a:p>
        </p:txBody>
      </p:sp>
      <p:sp>
        <p:nvSpPr>
          <p:cNvPr id="35" name="Shape 35"/>
          <p:cNvSpPr txBox="1">
            <a:spLocks noGrp="1"/>
          </p:cNvSpPr>
          <p:nvPr>
            <p:ph type="body" idx="1"/>
          </p:nvPr>
        </p:nvSpPr>
        <p:spPr>
          <a:xfrm>
            <a:off x="623887" y="4589464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Font typeface="Noto Sans Symbols"/>
              <a:buNone/>
              <a:defRPr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lnSpc>
                <a:spcPct val="90000"/>
              </a:lnSpc>
              <a:spcBef>
                <a:spcPts val="500"/>
              </a:spcBef>
              <a:buClr>
                <a:srgbClr val="888888"/>
              </a:buClr>
              <a:buFont typeface="Noto Sans Symbols"/>
              <a:buNone/>
              <a:defRPr sz="20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lnSpc>
                <a:spcPct val="90000"/>
              </a:lnSpc>
              <a:spcBef>
                <a:spcPts val="500"/>
              </a:spcBef>
              <a:buClr>
                <a:srgbClr val="888888"/>
              </a:buClr>
              <a:buFont typeface="Noto Sans Symbols"/>
              <a:buNone/>
              <a:defRPr sz="18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lnSpc>
                <a:spcPct val="90000"/>
              </a:lnSpc>
              <a:spcBef>
                <a:spcPts val="500"/>
              </a:spcBef>
              <a:buClr>
                <a:srgbClr val="888888"/>
              </a:buClr>
              <a:buFont typeface="Noto Sans Symbols"/>
              <a:buNone/>
              <a:defRPr sz="16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lnSpc>
                <a:spcPct val="90000"/>
              </a:lnSpc>
              <a:spcBef>
                <a:spcPts val="500"/>
              </a:spcBef>
              <a:buClr>
                <a:srgbClr val="888888"/>
              </a:buClr>
              <a:buFont typeface="Noto Sans Symbols"/>
              <a:buNone/>
              <a:defRPr sz="16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lnSpc>
                <a:spcPct val="90000"/>
              </a:lnSpc>
              <a:spcBef>
                <a:spcPts val="500"/>
              </a:spcBef>
              <a:buClr>
                <a:srgbClr val="888888"/>
              </a:buClr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lnSpc>
                <a:spcPct val="90000"/>
              </a:lnSpc>
              <a:spcBef>
                <a:spcPts val="500"/>
              </a:spcBef>
              <a:buClr>
                <a:srgbClr val="888888"/>
              </a:buClr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lnSpc>
                <a:spcPct val="90000"/>
              </a:lnSpc>
              <a:spcBef>
                <a:spcPts val="500"/>
              </a:spcBef>
              <a:buClr>
                <a:srgbClr val="888888"/>
              </a:buClr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lnSpc>
                <a:spcPct val="90000"/>
              </a:lnSpc>
              <a:spcBef>
                <a:spcPts val="500"/>
              </a:spcBef>
              <a:buClr>
                <a:srgbClr val="888888"/>
              </a:buClr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36" name="Shape 36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37" name="Shape 37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099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ct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38" name="Shape 38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rPr>
              <a:t>‹#›</a:t>
            </a:fld>
            <a:endParaRPr lang="en-US" sz="1200">
              <a:solidFill>
                <a:srgbClr val="888888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39" name="Shape 3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140227" y="5854698"/>
            <a:ext cx="91395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Shape 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22" y="5854698"/>
            <a:ext cx="914368" cy="91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42"/>
          <p:cNvSpPr/>
          <p:nvPr/>
        </p:nvSpPr>
        <p:spPr>
          <a:xfrm>
            <a:off x="0" y="0"/>
            <a:ext cx="9144000" cy="1690688"/>
          </a:xfrm>
          <a:prstGeom prst="rect">
            <a:avLst/>
          </a:prstGeom>
          <a:solidFill>
            <a:srgbClr val="E03A3E"/>
          </a:solidFill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buNone/>
            </a:pPr>
            <a:endParaRPr sz="1800" cap="none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43" name="Shape 43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Font typeface="Cabin"/>
              <a:buNone/>
              <a:defRPr sz="4400" b="0" i="0" u="none" strike="noStrike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/>
          </a:p>
        </p:txBody>
      </p:sp>
      <p:sp>
        <p:nvSpPr>
          <p:cNvPr id="44" name="Shape 44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28600" marR="0" lvl="0" indent="-50800" algn="l" rtl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685800" marR="0" lvl="1" indent="-762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143000" marR="0" lvl="2" indent="-1016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600200" marR="0" lvl="3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057400" marR="0" lvl="4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514600" marR="0" lvl="5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971800" marR="0" lvl="6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429000" marR="0" lvl="7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886200" marR="0" lvl="8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45" name="Shape 45"/>
          <p:cNvSpPr txBox="1">
            <a:spLocks noGrp="1"/>
          </p:cNvSpPr>
          <p:nvPr>
            <p:ph type="body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28600" marR="0" lvl="0" indent="-50800" algn="l" rtl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685800" marR="0" lvl="1" indent="-762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143000" marR="0" lvl="2" indent="-1016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600200" marR="0" lvl="3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057400" marR="0" lvl="4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514600" marR="0" lvl="5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971800" marR="0" lvl="6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429000" marR="0" lvl="7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886200" marR="0" lvl="8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46" name="Shape 46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47" name="Shape 47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099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ct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48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rPr>
              <a:t>‹#›</a:t>
            </a:fld>
            <a:endParaRPr lang="en-US" sz="1200">
              <a:solidFill>
                <a:srgbClr val="888888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49" name="Shape 4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140227" y="5854698"/>
            <a:ext cx="91395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Shape 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22" y="5854698"/>
            <a:ext cx="914368" cy="91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52"/>
          <p:cNvSpPr/>
          <p:nvPr/>
        </p:nvSpPr>
        <p:spPr>
          <a:xfrm>
            <a:off x="0" y="0"/>
            <a:ext cx="9144000" cy="1690688"/>
          </a:xfrm>
          <a:prstGeom prst="rect">
            <a:avLst/>
          </a:prstGeom>
          <a:solidFill>
            <a:srgbClr val="E03A3E"/>
          </a:solidFill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buNone/>
            </a:pPr>
            <a:endParaRPr sz="1800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3" name="Shape 53"/>
          <p:cNvSpPr txBox="1">
            <a:spLocks noGrp="1"/>
          </p:cNvSpPr>
          <p:nvPr>
            <p:ph type="title"/>
          </p:nvPr>
        </p:nvSpPr>
        <p:spPr>
          <a:xfrm>
            <a:off x="629841" y="365126"/>
            <a:ext cx="7886700" cy="132556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Font typeface="Cabin"/>
              <a:buNone/>
              <a:defRPr sz="4400" b="0" i="0" u="none" strike="noStrike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/>
          </a:p>
        </p:txBody>
      </p:sp>
      <p:sp>
        <p:nvSpPr>
          <p:cNvPr id="54" name="Shape 54"/>
          <p:cNvSpPr txBox="1"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Font typeface="Noto Sans Symbols"/>
              <a:buNone/>
              <a:defRPr sz="24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20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18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55" name="Shape 55"/>
          <p:cNvSpPr txBox="1">
            <a:spLocks noGrp="1"/>
          </p:cNvSpPr>
          <p:nvPr>
            <p:ph type="body" idx="2"/>
          </p:nvPr>
        </p:nvSpPr>
        <p:spPr>
          <a:xfrm>
            <a:off x="629841" y="2505075"/>
            <a:ext cx="3868340" cy="368458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28600" marR="0" lvl="0" indent="-50800" algn="l" rtl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685800" marR="0" lvl="1" indent="-762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143000" marR="0" lvl="2" indent="-1016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600200" marR="0" lvl="3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057400" marR="0" lvl="4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514600" marR="0" lvl="5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971800" marR="0" lvl="6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429000" marR="0" lvl="7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886200" marR="0" lvl="8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56" name="Shape 56"/>
          <p:cNvSpPr txBox="1">
            <a:spLocks noGrp="1"/>
          </p:cNvSpPr>
          <p:nvPr>
            <p:ph type="body" idx="3"/>
          </p:nvPr>
        </p:nvSpPr>
        <p:spPr>
          <a:xfrm>
            <a:off x="4629150" y="1681163"/>
            <a:ext cx="3887390" cy="82391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Font typeface="Noto Sans Symbols"/>
              <a:buNone/>
              <a:defRPr sz="24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20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18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57" name="Shape 57"/>
          <p:cNvSpPr txBox="1">
            <a:spLocks noGrp="1"/>
          </p:cNvSpPr>
          <p:nvPr>
            <p:ph type="body" idx="4"/>
          </p:nvPr>
        </p:nvSpPr>
        <p:spPr>
          <a:xfrm>
            <a:off x="4629150" y="2505075"/>
            <a:ext cx="3887390" cy="368458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28600" marR="0" lvl="0" indent="-50800" algn="l" rtl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685800" marR="0" lvl="1" indent="-762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143000" marR="0" lvl="2" indent="-1016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600200" marR="0" lvl="3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057400" marR="0" lvl="4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514600" marR="0" lvl="5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971800" marR="0" lvl="6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429000" marR="0" lvl="7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886200" marR="0" lvl="8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58" name="Shape 58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59" name="Shape 59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099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ct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60" name="Shape 60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rPr>
              <a:t>‹#›</a:t>
            </a:fld>
            <a:endParaRPr lang="en-US" sz="1200">
              <a:solidFill>
                <a:srgbClr val="888888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61" name="Shape 6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140227" y="5854698"/>
            <a:ext cx="91395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Shape 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22" y="5854698"/>
            <a:ext cx="914368" cy="91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64"/>
          <p:cNvSpPr/>
          <p:nvPr/>
        </p:nvSpPr>
        <p:spPr>
          <a:xfrm>
            <a:off x="0" y="0"/>
            <a:ext cx="9144000" cy="1690688"/>
          </a:xfrm>
          <a:prstGeom prst="rect">
            <a:avLst/>
          </a:prstGeom>
          <a:solidFill>
            <a:srgbClr val="E03A3E"/>
          </a:solidFill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buNone/>
            </a:pPr>
            <a:endParaRPr sz="1800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65" name="Shape 65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Font typeface="Cabin"/>
              <a:buNone/>
              <a:defRPr sz="4400" b="0" i="0" u="none" strike="noStrike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/>
          </a:p>
        </p:txBody>
      </p:sp>
      <p:sp>
        <p:nvSpPr>
          <p:cNvPr id="66" name="Shape 66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67" name="Shape 67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099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ct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68" name="Shape 68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rPr>
              <a:t>‹#›</a:t>
            </a:fld>
            <a:endParaRPr lang="en-US" sz="1200">
              <a:solidFill>
                <a:srgbClr val="888888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69" name="Shape 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140227" y="5854698"/>
            <a:ext cx="91395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Shape 7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22" y="5854698"/>
            <a:ext cx="914368" cy="91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Font typeface="Cabin"/>
              <a:buNone/>
              <a:defRPr sz="4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28600" marR="0" lvl="0" indent="-50800" algn="l" rtl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685800" marR="0" lvl="1" indent="-762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143000" marR="0" lvl="2" indent="-1016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600200" marR="0" lvl="3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057400" marR="0" lvl="4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514600" marR="0" lvl="5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971800" marR="0" lvl="6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429000" marR="0" lvl="7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886200" marR="0" lvl="8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12" name="Shape 12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13" name="Shape 13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099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14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rPr>
              <a:t>‹#›</a:t>
            </a:fld>
            <a:endParaRPr lang="en-US" sz="1200" b="0" i="0" u="none" strike="noStrike" cap="none">
              <a:solidFill>
                <a:srgbClr val="888888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  <p:timing>
    <p:tnLst>
      <p:par>
        <p:cTn id="1" dur="indefinite" restart="never" nodeType="tmRoot"/>
      </p:par>
    </p:tnLst>
  </p:timing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DreaJulca/streamvis-lecture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 txBox="1">
            <a:spLocks noGrp="1"/>
          </p:cNvSpPr>
          <p:nvPr>
            <p:ph type="ctrTitle"/>
          </p:nvPr>
        </p:nvSpPr>
        <p:spPr>
          <a:xfrm>
            <a:off x="685800" y="1122362"/>
            <a:ext cx="7772400" cy="23876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 dirty="0"/>
              <a:t>Visual Data Science</a:t>
            </a:r>
          </a:p>
        </p:txBody>
      </p:sp>
      <p:sp>
        <p:nvSpPr>
          <p:cNvPr id="152" name="Shape 152"/>
          <p:cNvSpPr txBox="1">
            <a:spLocks noGrp="1"/>
          </p:cNvSpPr>
          <p:nvPr>
            <p:ph type="subTitle" idx="1"/>
          </p:nvPr>
        </p:nvSpPr>
        <p:spPr>
          <a:xfrm>
            <a:off x="1143000" y="3602037"/>
            <a:ext cx="6858000" cy="165576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ct val="25000"/>
              <a:buFont typeface="Noto Sans Symbols"/>
              <a:buNone/>
            </a:pPr>
            <a:r>
              <a:rPr lang="en-US" b="1"/>
              <a:t>Andrea Julca</a:t>
            </a:r>
            <a:r>
              <a:rPr lang="en-US" sz="24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/>
            </a:r>
            <a:br>
              <a:rPr lang="en-US" sz="24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</a:br>
            <a:r>
              <a:rPr lang="en-US"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College of Information Studies</a:t>
            </a:r>
            <a:r>
              <a:rPr lang="en-US" sz="24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/>
            </a:r>
            <a:br>
              <a:rPr lang="en-US" sz="24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</a:br>
            <a:r>
              <a:rPr lang="en-US"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University of Maryland, College Park</a:t>
            </a:r>
          </a:p>
        </p:txBody>
      </p:sp>
      <p:pic>
        <p:nvPicPr>
          <p:cNvPr id="153" name="Shape 1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951560"/>
            <a:ext cx="2098895" cy="18524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Shape 154" descr="C:\Users\elm\Documents\Doc\logos\umd-wordmark-white.emf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12467" y="5624139"/>
            <a:ext cx="2628899" cy="5072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Shape 2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34682" y="220741"/>
            <a:ext cx="1274633" cy="1428062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Shape 217"/>
          <p:cNvSpPr txBox="1">
            <a:spLocks noGrp="1"/>
          </p:cNvSpPr>
          <p:nvPr>
            <p:ph type="title"/>
          </p:nvPr>
        </p:nvSpPr>
        <p:spPr>
          <a:xfrm>
            <a:off x="628650" y="1772034"/>
            <a:ext cx="7886700" cy="42591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 sz="4400" b="1" i="0" u="none" strike="noStrike" cap="none" dirty="0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MOTIVATING QUESTIONS</a:t>
            </a:r>
            <a:r>
              <a:rPr lang="en-US" sz="4400" b="1" i="0" u="none" strike="noStrike" cap="none" dirty="0" smtClean="0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:</a:t>
            </a:r>
            <a:r>
              <a:rPr lang="en-US" sz="4400" b="0" i="0" u="none" strike="noStrike" cap="none" dirty="0" smtClean="0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/>
            </a:r>
            <a:br>
              <a:rPr lang="en-US" sz="4400" b="0" i="0" u="none" strike="noStrike" cap="none" dirty="0" smtClean="0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</a:br>
            <a:r>
              <a:rPr lang="en-US" dirty="0" smtClean="0"/>
              <a:t>How do I go from nothing to my hypothesis? 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Designing interactive visualizations for exploratory analysis</a:t>
            </a:r>
            <a:endParaRPr lang="en-US" sz="4400" b="0" i="0" u="none" cap="none" dirty="0" smtClean="0">
              <a:solidFill>
                <a:schemeClr val="lt1"/>
              </a:solidFill>
              <a:sym typeface="Cabi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223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2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 sz="4400" b="0" i="0" u="none" strike="noStrike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OUTLINE</a:t>
            </a:r>
          </a:p>
        </p:txBody>
      </p:sp>
      <p:sp>
        <p:nvSpPr>
          <p:cNvPr id="224" name="Shape 224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</a:pPr>
            <a:r>
              <a:rPr lang="en-US" dirty="0"/>
              <a:t>Defining data science </a:t>
            </a:r>
            <a:endParaRPr lang="en-US" dirty="0" smtClean="0"/>
          </a:p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</a:pPr>
            <a:endParaRPr lang="en-US" dirty="0" smtClean="0"/>
          </a:p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</a:pPr>
            <a:r>
              <a:rPr lang="en-US" dirty="0" smtClean="0"/>
              <a:t>Extract</a:t>
            </a:r>
            <a:r>
              <a:rPr lang="en-US" dirty="0"/>
              <a:t>, transform, load (ETL)</a:t>
            </a:r>
          </a:p>
          <a:p>
            <a:pPr marL="0" lvl="0" indent="0" rtl="0">
              <a:spcBef>
                <a:spcPts val="0"/>
              </a:spcBef>
              <a:buNone/>
            </a:pPr>
            <a:endParaRPr dirty="0"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</a:pPr>
            <a:r>
              <a:rPr lang="en-US" dirty="0"/>
              <a:t>Exploratory analysis and </a:t>
            </a:r>
            <a:r>
              <a:rPr lang="en-US" dirty="0" smtClean="0"/>
              <a:t>modeling</a:t>
            </a:r>
          </a:p>
          <a:p>
            <a:pPr lvl="1" indent="-228600">
              <a:spcBef>
                <a:spcPts val="1000"/>
              </a:spcBef>
            </a:pPr>
            <a:r>
              <a:rPr lang="en-US" dirty="0" smtClean="0"/>
              <a:t>NLP – Natural Language Processing</a:t>
            </a:r>
            <a:endParaRPr lang="en-US" dirty="0"/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</a:pPr>
            <a:r>
              <a:rPr lang="en-US" dirty="0"/>
              <a:t>Streaming </a:t>
            </a:r>
            <a:r>
              <a:rPr lang="en-US" dirty="0" smtClean="0"/>
              <a:t>visualization</a:t>
            </a:r>
            <a:endParaRPr lang="en-US" dirty="0"/>
          </a:p>
        </p:txBody>
      </p:sp>
      <p:sp>
        <p:nvSpPr>
          <p:cNvPr id="225" name="Shape 225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1682277" cy="36512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rPr>
              <a:t>3</a:t>
            </a:fld>
            <a:endParaRPr lang="en-US" sz="1200">
              <a:solidFill>
                <a:srgbClr val="888888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Shape 230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2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What is a "data scientist?"</a:t>
            </a:r>
          </a:p>
        </p:txBody>
      </p:sp>
      <p:sp>
        <p:nvSpPr>
          <p:cNvPr id="231" name="Shape 231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lang="en-US" dirty="0" smtClean="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lang="en-US" dirty="0" smtClean="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lang="en-US" dirty="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lang="en-US" dirty="0" smtClean="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lang="en-US" dirty="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lang="en-US" dirty="0" smtClean="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lang="en-US" dirty="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dirty="0"/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 smtClean="0"/>
              <a:t>Started as </a:t>
            </a:r>
            <a:r>
              <a:rPr lang="en-US" dirty="0"/>
              <a:t>a marketing term, but careers and formal data science programs have sprung up around the concept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b="15084"/>
          <a:stretch/>
        </p:blipFill>
        <p:spPr>
          <a:xfrm>
            <a:off x="1619250" y="1828800"/>
            <a:ext cx="5905500" cy="2895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hape 236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Data science competencies</a:t>
            </a:r>
          </a:p>
        </p:txBody>
      </p:sp>
      <p:sp>
        <p:nvSpPr>
          <p:cNvPr id="237" name="Shape 237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lvl="0" indent="0" rtl="0">
              <a:spcBef>
                <a:spcPts val="0"/>
              </a:spcBef>
              <a:buNone/>
            </a:pPr>
            <a:r>
              <a:rPr lang="en-US" dirty="0"/>
              <a:t>Anderson et al. (2014):</a:t>
            </a:r>
          </a:p>
          <a:p>
            <a:pPr marL="457200" lvl="0" indent="-228600" rtl="0">
              <a:spcBef>
                <a:spcPts val="0"/>
              </a:spcBef>
            </a:pPr>
            <a:r>
              <a:rPr lang="en-US" sz="3200" b="1" dirty="0"/>
              <a:t>Information retrieval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/>
              <a:t>Large or streaming data sets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 smtClean="0"/>
              <a:t>Databases/structures</a:t>
            </a:r>
            <a:endParaRPr lang="en-US" sz="3200" b="1" dirty="0"/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AI and statistical techniques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Software development and algorithms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Mathematics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Communication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Social, ethical, and legal awareness 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hape 242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Data science competencies</a:t>
            </a:r>
          </a:p>
        </p:txBody>
      </p:sp>
      <p:sp>
        <p:nvSpPr>
          <p:cNvPr id="243" name="Shape 243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lvl="0" indent="0" rtl="0">
              <a:spcBef>
                <a:spcPts val="0"/>
              </a:spcBef>
              <a:buNone/>
            </a:pPr>
            <a:r>
              <a:rPr lang="en-US" dirty="0"/>
              <a:t>Anderson et al. (2014):</a:t>
            </a:r>
          </a:p>
          <a:p>
            <a:pPr marL="457200" lvl="0" indent="-228600" rtl="0">
              <a:spcBef>
                <a:spcPts val="0"/>
              </a:spcBef>
            </a:pPr>
            <a:r>
              <a:rPr lang="en-US" sz="2400" dirty="0"/>
              <a:t>Information retrieval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Large or streaming data sets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Databases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/>
              <a:t>AI and statistical techniques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/>
              <a:t>Software development and algorithms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/>
              <a:t>Mathematics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Communication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Social, ethical, and legal awareness 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Data science competencies</a:t>
            </a:r>
          </a:p>
        </p:txBody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lvl="0" indent="0" rtl="0">
              <a:spcBef>
                <a:spcPts val="0"/>
              </a:spcBef>
              <a:buNone/>
            </a:pPr>
            <a:r>
              <a:rPr lang="en-US" dirty="0"/>
              <a:t>Anderson et al. (2014):</a:t>
            </a:r>
          </a:p>
          <a:p>
            <a:pPr marL="457200" lvl="0" indent="-228600" rtl="0">
              <a:spcBef>
                <a:spcPts val="0"/>
              </a:spcBef>
            </a:pPr>
            <a:r>
              <a:rPr lang="en-US" sz="2400" dirty="0"/>
              <a:t>Information retrieval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Large or streaming data sets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Databases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AI and statistical techniques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Software development and algorithms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Mathematics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/>
              <a:t>Communication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/>
              <a:t>Social, ethical, and legal awareness 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Shape 254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Data science workflow</a:t>
            </a:r>
          </a:p>
        </p:txBody>
      </p:sp>
      <p:sp>
        <p:nvSpPr>
          <p:cNvPr id="255" name="Shape 255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3200" b="1" dirty="0"/>
              <a:t>Scope out the problem or question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3200" b="1" dirty="0"/>
              <a:t>Knowledge search: Research and </a:t>
            </a:r>
            <a:r>
              <a:rPr lang="en-US" sz="3200" b="1" dirty="0" err="1"/>
              <a:t>sensemaking</a:t>
            </a:r>
            <a:r>
              <a:rPr lang="en-US" sz="3200" b="1" dirty="0"/>
              <a:t>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Data retrieval; extract, transform, load (ETL)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Exploratory analysis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Modeling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System-building [sometimes]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Versioning/archival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Communication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Shape 260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Data science workflow</a:t>
            </a:r>
          </a:p>
        </p:txBody>
      </p:sp>
      <p:sp>
        <p:nvSpPr>
          <p:cNvPr id="261" name="Shape 261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Scope out the problem or question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Knowledge search: Research and </a:t>
            </a:r>
            <a:r>
              <a:rPr lang="en-US" sz="2400" dirty="0" err="1"/>
              <a:t>sensemaking</a:t>
            </a:r>
            <a:r>
              <a:rPr lang="en-US" sz="2400" dirty="0"/>
              <a:t>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3200" b="1" dirty="0"/>
              <a:t>Data retrieval; extract, transform, load (ETL)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Exploratory analysis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Modeling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 smtClean="0"/>
              <a:t>System-building</a:t>
            </a:r>
            <a:endParaRPr lang="en-US" sz="2400" dirty="0"/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Versioning/archival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Communication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Shape 266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Extract: Information retrieval</a:t>
            </a:r>
          </a:p>
        </p:txBody>
      </p:sp>
      <p:sp>
        <p:nvSpPr>
          <p:cNvPr id="267" name="Shape 267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457200" marR="0" lvl="0" indent="-406400" algn="l" rtl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ct val="100000"/>
              <a:buFont typeface="Cabin"/>
            </a:pPr>
            <a:r>
              <a:rPr lang="en-US" dirty="0"/>
              <a:t>Information systems: Get data from a database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dirty="0"/>
          </a:p>
          <a:p>
            <a:pPr marL="457200" marR="0" lvl="0" indent="-406400" algn="l" rtl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ct val="100000"/>
              <a:buFont typeface="Cabin"/>
            </a:pPr>
            <a:r>
              <a:rPr lang="en-US" dirty="0"/>
              <a:t>Information studies: "Everything is data"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Tables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Text</a:t>
            </a:r>
          </a:p>
          <a:p>
            <a:pPr marL="914400" lvl="1" indent="-228600" rtl="0">
              <a:spcBef>
                <a:spcPts val="0"/>
              </a:spcBef>
            </a:pPr>
            <a:r>
              <a:rPr lang="en-US" dirty="0"/>
              <a:t>Images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Media files (video, audio)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Interviews?</a:t>
            </a:r>
          </a:p>
          <a:p>
            <a:pPr marL="914400" lvl="1" indent="-228600" rtl="0">
              <a:spcBef>
                <a:spcPts val="0"/>
              </a:spcBef>
            </a:pPr>
            <a:r>
              <a:rPr lang="en-US" dirty="0"/>
              <a:t>Artifacts??</a:t>
            </a:r>
          </a:p>
          <a:p>
            <a:pPr marL="457200" lvl="0" indent="-228600" rtl="0">
              <a:spcBef>
                <a:spcPts val="0"/>
              </a:spcBef>
              <a:buFont typeface="Cabin"/>
            </a:pPr>
            <a:r>
              <a:rPr lang="en-US" dirty="0"/>
              <a:t>Other examples?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Shape 272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Extract: "Webscraping"</a:t>
            </a:r>
          </a:p>
        </p:txBody>
      </p:sp>
      <p:pic>
        <p:nvPicPr>
          <p:cNvPr id="273" name="Shape 2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843226"/>
            <a:ext cx="8839199" cy="4073364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Shape 274"/>
          <p:cNvSpPr txBox="1"/>
          <p:nvPr/>
        </p:nvSpPr>
        <p:spPr>
          <a:xfrm>
            <a:off x="1365250" y="6130925"/>
            <a:ext cx="6508800" cy="349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b="1"/>
              <a:t>Windows:</a:t>
            </a:r>
            <a:r>
              <a:rPr lang="en-US" sz="1800"/>
              <a:t> F12, Ctrl + Shift + I		</a:t>
            </a:r>
            <a:r>
              <a:rPr lang="en-US" sz="1800" b="1"/>
              <a:t>Mac:</a:t>
            </a:r>
            <a:r>
              <a:rPr lang="en-US" sz="1800"/>
              <a:t> Cmd + Opt + 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Shape 279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Transform [Info Systems]</a:t>
            </a:r>
          </a:p>
        </p:txBody>
      </p:sp>
      <p:sp>
        <p:nvSpPr>
          <p:cNvPr id="280" name="Shape 280"/>
          <p:cNvSpPr txBox="1">
            <a:spLocks noGrp="1"/>
          </p:cNvSpPr>
          <p:nvPr>
            <p:ph type="body" idx="1"/>
          </p:nvPr>
        </p:nvSpPr>
        <p:spPr>
          <a:xfrm>
            <a:off x="628650" y="17494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r>
              <a:rPr lang="en-US" dirty="0"/>
              <a:t>Reshaping and restructuring data for the target database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Clean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Filter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Apply models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Business rules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Aggregate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mtClean="0"/>
              <a:t>Etc.</a:t>
            </a:r>
            <a:endParaRPr lang="en-US" dirty="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Shape 285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Transform [Mathematics]</a:t>
            </a:r>
          </a:p>
        </p:txBody>
      </p:sp>
      <p:sp>
        <p:nvSpPr>
          <p:cNvPr id="286" name="Shape 286"/>
          <p:cNvSpPr txBox="1">
            <a:spLocks noGrp="1"/>
          </p:cNvSpPr>
          <p:nvPr>
            <p:ph type="body" idx="1"/>
          </p:nvPr>
        </p:nvSpPr>
        <p:spPr>
          <a:xfrm>
            <a:off x="628650" y="17494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457200" lvl="0" indent="-228600" rtl="0">
              <a:spcBef>
                <a:spcPts val="0"/>
              </a:spcBef>
            </a:pPr>
            <a:r>
              <a:rPr lang="en-US"/>
              <a:t>Geometry: </a:t>
            </a:r>
          </a:p>
          <a:p>
            <a:pPr marL="914400" lvl="1" indent="-228600" rtl="0">
              <a:spcBef>
                <a:spcPts val="0"/>
              </a:spcBef>
            </a:pPr>
            <a:r>
              <a:rPr lang="en-US"/>
              <a:t>Reflect</a:t>
            </a:r>
          </a:p>
          <a:p>
            <a:pPr marL="914400" lvl="1" indent="-228600" rtl="0">
              <a:spcBef>
                <a:spcPts val="0"/>
              </a:spcBef>
            </a:pPr>
            <a:r>
              <a:rPr lang="en-US"/>
              <a:t>Rotate</a:t>
            </a:r>
          </a:p>
          <a:p>
            <a:pPr marL="914400" lvl="1" indent="-228600" rtl="0">
              <a:spcBef>
                <a:spcPts val="0"/>
              </a:spcBef>
            </a:pPr>
            <a:r>
              <a:rPr lang="en-US"/>
              <a:t>Scale (resize)</a:t>
            </a:r>
          </a:p>
          <a:p>
            <a:pPr marL="914400" lvl="1" indent="-228600" rtl="0">
              <a:spcBef>
                <a:spcPts val="0"/>
              </a:spcBef>
            </a:pPr>
            <a:r>
              <a:rPr lang="en-US"/>
              <a:t>Translate (shift position)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/>
          </a:p>
          <a:p>
            <a:pPr marL="457200" lvl="0" indent="-228600" rtl="0">
              <a:spcBef>
                <a:spcPts val="0"/>
              </a:spcBef>
            </a:pPr>
            <a:r>
              <a:rPr lang="en-US"/>
              <a:t>Generally:</a:t>
            </a:r>
          </a:p>
          <a:p>
            <a:pPr marL="914400" lvl="1" indent="-228600" rtl="0">
              <a:spcBef>
                <a:spcPts val="0"/>
              </a:spcBef>
            </a:pPr>
            <a:r>
              <a:rPr lang="en-US"/>
              <a:t>An invertible function mapping one domain to another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Shape 291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Transform [Comp &amp; Data Sci]</a:t>
            </a:r>
          </a:p>
        </p:txBody>
      </p:sp>
      <p:sp>
        <p:nvSpPr>
          <p:cNvPr id="292" name="Shape 292"/>
          <p:cNvSpPr txBox="1">
            <a:spLocks noGrp="1"/>
          </p:cNvSpPr>
          <p:nvPr>
            <p:ph type="body" idx="1"/>
          </p:nvPr>
        </p:nvSpPr>
        <p:spPr>
          <a:xfrm>
            <a:off x="876300" y="3116400"/>
            <a:ext cx="7886700" cy="27510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lvl="0" indent="0" rtl="0">
              <a:spcBef>
                <a:spcPts val="0"/>
              </a:spcBef>
              <a:buNone/>
            </a:pPr>
            <a:r>
              <a:rPr lang="en-US" sz="8800" dirty="0"/>
              <a:t>Why not both?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Shape 302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Data science workflow</a:t>
            </a:r>
          </a:p>
        </p:txBody>
      </p:sp>
      <p:sp>
        <p:nvSpPr>
          <p:cNvPr id="303" name="Shape 303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Scope out the problem or question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Knowledge search: Research and </a:t>
            </a:r>
            <a:r>
              <a:rPr lang="en-US" sz="2400" dirty="0" err="1"/>
              <a:t>sensemaking</a:t>
            </a:r>
            <a:r>
              <a:rPr lang="en-US" sz="2400" dirty="0"/>
              <a:t>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Data retrieval; extract, transform, load (ETL)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3200" b="1" dirty="0"/>
              <a:t>Exploratory analysis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3200" b="1" dirty="0"/>
              <a:t>Modeling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 smtClean="0"/>
              <a:t>System-building</a:t>
            </a:r>
            <a:endParaRPr lang="en-US" sz="2400" dirty="0"/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Versioning/archival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Communication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223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2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lvl="0">
              <a:buSzPct val="25000"/>
            </a:pPr>
            <a:r>
              <a:rPr lang="en-US" dirty="0" smtClean="0"/>
              <a:t>Exploratory </a:t>
            </a:r>
            <a:r>
              <a:rPr lang="en-US" dirty="0"/>
              <a:t>Data Analysis (EDA)</a:t>
            </a:r>
          </a:p>
        </p:txBody>
      </p:sp>
      <p:sp>
        <p:nvSpPr>
          <p:cNvPr id="225" name="Shape 225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1682277" cy="36512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rPr>
              <a:t>16</a:t>
            </a:fld>
            <a:endParaRPr lang="en-US" sz="1200">
              <a:solidFill>
                <a:srgbClr val="888888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1634280" y="2206388"/>
            <a:ext cx="8541607" cy="618892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28600" marR="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685800" marR="0" lvl="1" indent="-76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143000" marR="0" lvl="2" indent="-101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▪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600200" marR="0" lvl="3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057400" marR="0" lvl="4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514600" marR="0" lvl="5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971800" marR="0" lvl="6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429000" marR="0" lvl="7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886200" marR="0" lvl="8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r>
              <a:rPr lang="en-US" sz="2000" dirty="0" smtClean="0"/>
              <a:t>Based on </a:t>
            </a:r>
            <a:r>
              <a:rPr lang="en-US" sz="2000" dirty="0" err="1" smtClean="0"/>
              <a:t>Tukey</a:t>
            </a:r>
            <a:r>
              <a:rPr lang="en-US" sz="2000" dirty="0" smtClean="0"/>
              <a:t>, J.W. </a:t>
            </a:r>
            <a:r>
              <a:rPr lang="en-US" sz="2000" i="1" dirty="0" smtClean="0"/>
              <a:t>The Future of Data Analysis</a:t>
            </a:r>
            <a:r>
              <a:rPr lang="en-US" sz="2000" dirty="0" smtClean="0"/>
              <a:t>. 1962. 				   </a:t>
            </a:r>
            <a:r>
              <a:rPr lang="en-US" sz="2000" i="1" dirty="0" smtClean="0"/>
              <a:t>and</a:t>
            </a:r>
            <a:r>
              <a:rPr lang="en-US" sz="2000" dirty="0" smtClean="0"/>
              <a:t> Exploratory data analysis. 1977. </a:t>
            </a:r>
            <a:endParaRPr lang="en-US" sz="2000" dirty="0"/>
          </a:p>
        </p:txBody>
      </p:sp>
      <p:sp>
        <p:nvSpPr>
          <p:cNvPr id="13" name="TextBox 12"/>
          <p:cNvSpPr txBox="1"/>
          <p:nvPr/>
        </p:nvSpPr>
        <p:spPr>
          <a:xfrm>
            <a:off x="-198104" y="3454032"/>
            <a:ext cx="14917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Acquisition</a:t>
            </a:r>
            <a:endParaRPr lang="en-US" sz="1600" dirty="0"/>
          </a:p>
        </p:txBody>
      </p:sp>
      <p:cxnSp>
        <p:nvCxnSpPr>
          <p:cNvPr id="14" name="Straight Arrow Connector 13"/>
          <p:cNvCxnSpPr/>
          <p:nvPr/>
        </p:nvCxnSpPr>
        <p:spPr>
          <a:xfrm>
            <a:off x="1084339" y="3635647"/>
            <a:ext cx="351825" cy="655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45982" y="3454032"/>
            <a:ext cx="19108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Hypotheses</a:t>
            </a:r>
            <a:endParaRPr lang="en-US" sz="1600" dirty="0"/>
          </a:p>
        </p:txBody>
      </p:sp>
      <p:cxnSp>
        <p:nvCxnSpPr>
          <p:cNvPr id="16" name="Straight Arrow Connector 15"/>
          <p:cNvCxnSpPr/>
          <p:nvPr/>
        </p:nvCxnSpPr>
        <p:spPr>
          <a:xfrm>
            <a:off x="7618147" y="3623309"/>
            <a:ext cx="306653" cy="655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2" name="Group 231"/>
          <p:cNvGrpSpPr/>
          <p:nvPr/>
        </p:nvGrpSpPr>
        <p:grpSpPr>
          <a:xfrm>
            <a:off x="1522249" y="1752600"/>
            <a:ext cx="6021551" cy="3705727"/>
            <a:chOff x="1446049" y="1752600"/>
            <a:chExt cx="6021551" cy="3705727"/>
          </a:xfrm>
        </p:grpSpPr>
        <p:sp>
          <p:nvSpPr>
            <p:cNvPr id="7" name="Oval 6"/>
            <p:cNvSpPr/>
            <p:nvPr/>
          </p:nvSpPr>
          <p:spPr>
            <a:xfrm>
              <a:off x="1446049" y="1752600"/>
              <a:ext cx="6021551" cy="3705727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670736" y="3115478"/>
              <a:ext cx="1758264" cy="10156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lang="en-US" sz="2000" dirty="0" smtClean="0"/>
            </a:p>
            <a:p>
              <a:pPr algn="ctr"/>
              <a:r>
                <a:rPr lang="en-US" sz="2000" dirty="0" smtClean="0"/>
                <a:t>Summarize</a:t>
              </a:r>
            </a:p>
            <a:p>
              <a:pPr algn="ctr"/>
              <a:endParaRPr lang="en-US" sz="2000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562600" y="3115478"/>
              <a:ext cx="1658410" cy="10156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lang="en-US" sz="2000" dirty="0" smtClean="0"/>
            </a:p>
            <a:p>
              <a:pPr algn="ctr"/>
              <a:r>
                <a:rPr lang="en-US" sz="2000" dirty="0" smtClean="0"/>
                <a:t>Tabulate</a:t>
              </a:r>
            </a:p>
            <a:p>
              <a:pPr algn="ctr"/>
              <a:endParaRPr lang="en-US" sz="20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707175" y="2133600"/>
              <a:ext cx="1550651" cy="10156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lang="en-US" sz="2000" dirty="0" smtClean="0"/>
            </a:p>
            <a:p>
              <a:pPr algn="ctr"/>
              <a:r>
                <a:rPr lang="en-US" sz="2000" dirty="0" smtClean="0"/>
                <a:t>Model</a:t>
              </a:r>
            </a:p>
            <a:p>
              <a:pPr algn="ctr"/>
              <a:endParaRPr lang="en-US" sz="2000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708494" y="4072539"/>
              <a:ext cx="1556353" cy="10156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lang="en-US" sz="2000" dirty="0" smtClean="0"/>
            </a:p>
            <a:p>
              <a:pPr algn="ctr"/>
              <a:r>
                <a:rPr lang="en-US" sz="2000" dirty="0" smtClean="0"/>
                <a:t>Graph</a:t>
              </a:r>
            </a:p>
            <a:p>
              <a:pPr algn="ctr"/>
              <a:endParaRPr lang="en-US" sz="2000" dirty="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065829" y="3352800"/>
              <a:ext cx="8536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 smtClean="0"/>
                <a:t>EDA</a:t>
              </a:r>
              <a:endParaRPr lang="en-US" sz="2400" b="1" dirty="0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 flipH="1" flipV="1">
              <a:off x="6477000" y="2209800"/>
              <a:ext cx="192506" cy="10635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V="1">
              <a:off x="6400800" y="4928452"/>
              <a:ext cx="231203" cy="10074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/>
            <p:nvPr/>
          </p:nvCxnSpPr>
          <p:spPr>
            <a:xfrm>
              <a:off x="2057400" y="4724400"/>
              <a:ext cx="207738" cy="11772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/>
            <p:nvPr/>
          </p:nvCxnSpPr>
          <p:spPr>
            <a:xfrm flipH="1">
              <a:off x="2209800" y="2209800"/>
              <a:ext cx="254197" cy="15834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32496578"/>
      </p:ext>
    </p:extLst>
  </p:cSld>
  <p:clrMapOvr>
    <a:masterClrMapping/>
  </p:clrMapOvr>
  <p:transition spd="slow">
    <p:fad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Shape 217"/>
          <p:cNvSpPr txBox="1">
            <a:spLocks noGrp="1"/>
          </p:cNvSpPr>
          <p:nvPr>
            <p:ph type="title"/>
          </p:nvPr>
        </p:nvSpPr>
        <p:spPr>
          <a:xfrm>
            <a:off x="628650" y="1772034"/>
            <a:ext cx="7886700" cy="42591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 sz="4400" b="0" i="0" u="none" cap="none" dirty="0" smtClean="0">
                <a:solidFill>
                  <a:schemeClr val="lt1"/>
                </a:solidFill>
                <a:sym typeface="Cabin"/>
              </a:rPr>
              <a:t>[demonstration]</a:t>
            </a:r>
          </a:p>
        </p:txBody>
      </p:sp>
    </p:spTree>
    <p:extLst>
      <p:ext uri="{BB962C8B-B14F-4D97-AF65-F5344CB8AC3E}">
        <p14:creationId xmlns:p14="http://schemas.microsoft.com/office/powerpoint/2010/main" val="29825171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" name="Shape 308" descr="https://farm8.staticflickr.com/7223/7303661260_ca33f3688b_k.jpg"/>
          <p:cNvPicPr preferRelativeResize="0"/>
          <p:nvPr/>
        </p:nvPicPr>
        <p:blipFill rotWithShape="1">
          <a:blip r:embed="rId3">
            <a:alphaModFix/>
          </a:blip>
          <a:srcRect l="5705" r="61"/>
          <a:stretch/>
        </p:blipFill>
        <p:spPr>
          <a:xfrm>
            <a:off x="0" y="0"/>
            <a:ext cx="915627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Shape 309"/>
          <p:cNvSpPr txBox="1"/>
          <p:nvPr/>
        </p:nvSpPr>
        <p:spPr>
          <a:xfrm>
            <a:off x="-119669" y="-220890"/>
            <a:ext cx="9358800" cy="47091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buSzPct val="25000"/>
              <a:buNone/>
            </a:pPr>
            <a:r>
              <a:rPr lang="en-US" sz="12500" smtClean="0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In-Class</a:t>
            </a:r>
            <a:r>
              <a:rPr lang="en-US" sz="15000" smtClean="0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US" sz="15000" dirty="0" smtClean="0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Exercise </a:t>
            </a:r>
            <a:r>
              <a:rPr lang="en-US" sz="15000" dirty="0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</a:p>
        </p:txBody>
      </p:sp>
      <p:sp>
        <p:nvSpPr>
          <p:cNvPr id="310" name="Shape 310"/>
          <p:cNvSpPr txBox="1"/>
          <p:nvPr/>
        </p:nvSpPr>
        <p:spPr>
          <a:xfrm>
            <a:off x="3079750" y="4486275"/>
            <a:ext cx="5969100" cy="23718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457200" lvl="0" indent="-381000">
              <a:buClr>
                <a:srgbClr val="F3F3F3"/>
              </a:buClr>
              <a:buSzPct val="100000"/>
              <a:buFont typeface="Open Sans"/>
              <a:buAutoNum type="arabicPeriod"/>
            </a:pPr>
            <a:r>
              <a:rPr lang="en-US" sz="2400" b="1" dirty="0" err="1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</a:rPr>
              <a:t>git</a:t>
            </a:r>
            <a:r>
              <a:rPr lang="en-US" sz="2400" b="1" dirty="0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</a:rPr>
              <a:t> clone/DL </a:t>
            </a:r>
            <a:r>
              <a:rPr lang="en-US" sz="2400" b="1" dirty="0" err="1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</a:rPr>
              <a:t>github</a:t>
            </a:r>
            <a:r>
              <a:rPr lang="en-US" sz="2400" b="1" dirty="0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</a:rPr>
              <a:t> repo: </a:t>
            </a:r>
            <a:r>
              <a:rPr lang="en-US" sz="2400" b="1" dirty="0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…/</a:t>
            </a:r>
            <a:r>
              <a:rPr lang="en-US" sz="2400" b="1" dirty="0" err="1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DreaJulca</a:t>
            </a:r>
            <a:r>
              <a:rPr lang="en-US" sz="2400" b="1" dirty="0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/</a:t>
            </a:r>
            <a:r>
              <a:rPr lang="en-US" sz="2400" b="1" dirty="0" err="1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streamvis</a:t>
            </a:r>
            <a:r>
              <a:rPr lang="en-US" sz="2400" b="1" dirty="0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-lecture</a:t>
            </a:r>
            <a:r>
              <a:rPr lang="en-US" sz="2400" b="1" dirty="0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457200" lvl="0" indent="-381000">
              <a:buClr>
                <a:srgbClr val="F3F3F3"/>
              </a:buClr>
              <a:buSzPct val="100000"/>
              <a:buFont typeface="Open Sans"/>
              <a:buAutoNum type="arabicPeriod"/>
            </a:pPr>
            <a:r>
              <a:rPr lang="en-US" sz="2400" b="1" dirty="0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</a:rPr>
              <a:t>Run </a:t>
            </a:r>
            <a:r>
              <a:rPr lang="en-US" sz="2400" b="1" dirty="0" err="1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</a:rPr>
              <a:t>Bind.R</a:t>
            </a:r>
            <a:r>
              <a:rPr lang="en-US" sz="2400" b="1" dirty="0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</a:rPr>
              <a:t> and </a:t>
            </a:r>
            <a:r>
              <a:rPr lang="en-US" sz="2400" b="1" dirty="0" err="1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</a:rPr>
              <a:t>serv.R</a:t>
            </a:r>
            <a:endParaRPr lang="en-US" sz="2400" b="1" dirty="0" smtClean="0">
              <a:solidFill>
                <a:srgbClr val="4A86E8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81000">
              <a:buClr>
                <a:srgbClr val="F3F3F3"/>
              </a:buClr>
              <a:buSzPct val="100000"/>
              <a:buFont typeface="Open Sans"/>
              <a:buAutoNum type="arabicPeriod"/>
            </a:pPr>
            <a:r>
              <a:rPr lang="en-US" sz="2400" b="1" dirty="0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</a:rPr>
              <a:t>(On paper) design and sketch a better (but also transitioning) visualization</a:t>
            </a:r>
            <a:endParaRPr lang="en-US" sz="2400" b="1" dirty="0">
              <a:solidFill>
                <a:srgbClr val="4A86E8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Shape 315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Load (Stage/Publish) &amp; Archive</a:t>
            </a:r>
          </a:p>
        </p:txBody>
      </p:sp>
      <p:sp>
        <p:nvSpPr>
          <p:cNvPr id="316" name="Shape 316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We've "loaded" the data from our chosen website into the </a:t>
            </a:r>
            <a:r>
              <a:rPr lang="en-US" i="1"/>
              <a:t>R </a:t>
            </a:r>
            <a:r>
              <a:rPr lang="en-US" i="1" smtClean="0"/>
              <a:t> </a:t>
            </a:r>
            <a:r>
              <a:rPr lang="en-US" smtClean="0"/>
              <a:t>environment</a:t>
            </a:r>
            <a:endParaRPr lang="en-US" dirty="0"/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Not a reliable way to warehouse. Why?</a:t>
            </a:r>
            <a:r>
              <a:rPr lang="en-US" i="1" dirty="0"/>
              <a:t> Low permanence</a:t>
            </a:r>
          </a:p>
          <a:p>
            <a:pPr marL="914400" lvl="1" indent="-228600" rtl="0">
              <a:spcBef>
                <a:spcPts val="0"/>
              </a:spcBef>
            </a:pPr>
            <a:r>
              <a:rPr lang="en-US" dirty="0"/>
              <a:t> Also not a great publication /  communication platform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In a more complete information or business system, we would: 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Perform further transformations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Load into database with well-defined schema (</a:t>
            </a:r>
            <a:r>
              <a:rPr lang="en-US" i="1" dirty="0"/>
              <a:t>higher permanence</a:t>
            </a:r>
            <a:r>
              <a:rPr lang="en-US" dirty="0"/>
              <a:t>)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We're skipping that today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hape 236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Data science competencies</a:t>
            </a:r>
          </a:p>
        </p:txBody>
      </p:sp>
      <p:sp>
        <p:nvSpPr>
          <p:cNvPr id="237" name="Shape 237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lvl="0" indent="0" rtl="0">
              <a:spcBef>
                <a:spcPts val="0"/>
              </a:spcBef>
              <a:buNone/>
            </a:pPr>
            <a:r>
              <a:rPr lang="en-US" dirty="0"/>
              <a:t>Anderson et al. (2014):</a:t>
            </a:r>
          </a:p>
          <a:p>
            <a:pPr marL="457200" lvl="0" indent="-228600" rtl="0">
              <a:spcBef>
                <a:spcPts val="0"/>
              </a:spcBef>
            </a:pPr>
            <a:r>
              <a:rPr lang="en-US" sz="2400" dirty="0"/>
              <a:t>Information retrieval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/>
              <a:t>Large or streaming data sets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Databases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AI and statistical techniques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Software development and algorithms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Mathematics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Communication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Social, ethical, and legal awareness 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647018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Shape 321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Streaming Visualization</a:t>
            </a:r>
          </a:p>
        </p:txBody>
      </p:sp>
      <p:sp>
        <p:nvSpPr>
          <p:cNvPr id="322" name="Shape 322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r>
              <a:rPr lang="en-US"/>
              <a:t>What is "streaming?"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/>
              <a:t>Transfer of continuously-generated data in real time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/>
              <a:t>"Real-time" somewhat subjective, contextual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r>
              <a:rPr lang="en-US"/>
              <a:t>"Streaming visualization," then, is any vis that is continuously updated based on newly-generated, high frequency data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Shape 327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 dirty="0"/>
              <a:t>Our process so </a:t>
            </a:r>
            <a:r>
              <a:rPr lang="en-US" dirty="0" smtClean="0"/>
              <a:t>far &amp; next step</a:t>
            </a:r>
            <a:endParaRPr lang="en-US" dirty="0"/>
          </a:p>
        </p:txBody>
      </p:sp>
      <p:sp>
        <p:nvSpPr>
          <p:cNvPr id="328" name="Shape 328"/>
          <p:cNvSpPr/>
          <p:nvPr/>
        </p:nvSpPr>
        <p:spPr>
          <a:xfrm>
            <a:off x="247650" y="2912925"/>
            <a:ext cx="1698600" cy="13257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r>
              <a:rPr lang="en-US" sz="3000">
                <a:solidFill>
                  <a:srgbClr val="F3F3F3"/>
                </a:solidFill>
              </a:rPr>
              <a:t>Site</a:t>
            </a:r>
          </a:p>
        </p:txBody>
      </p:sp>
      <p:sp>
        <p:nvSpPr>
          <p:cNvPr id="329" name="Shape 329"/>
          <p:cNvSpPr/>
          <p:nvPr/>
        </p:nvSpPr>
        <p:spPr>
          <a:xfrm>
            <a:off x="3219450" y="2912925"/>
            <a:ext cx="1698600" cy="1325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400"/>
              <a:t>Transform</a:t>
            </a:r>
          </a:p>
        </p:txBody>
      </p:sp>
      <p:sp>
        <p:nvSpPr>
          <p:cNvPr id="330" name="Shape 330"/>
          <p:cNvSpPr/>
          <p:nvPr/>
        </p:nvSpPr>
        <p:spPr>
          <a:xfrm>
            <a:off x="5200650" y="2912925"/>
            <a:ext cx="1698600" cy="1325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400"/>
              <a:t>Model</a:t>
            </a:r>
          </a:p>
        </p:txBody>
      </p:sp>
      <p:sp>
        <p:nvSpPr>
          <p:cNvPr id="331" name="Shape 331"/>
          <p:cNvSpPr/>
          <p:nvPr/>
        </p:nvSpPr>
        <p:spPr>
          <a:xfrm>
            <a:off x="7181850" y="2912925"/>
            <a:ext cx="1698600" cy="1325700"/>
          </a:xfrm>
          <a:prstGeom prst="rect">
            <a:avLst/>
          </a:prstGeom>
          <a:solidFill>
            <a:srgbClr val="E03A3E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3000" dirty="0">
                <a:solidFill>
                  <a:srgbClr val="EFEFEF"/>
                </a:solidFill>
              </a:rPr>
              <a:t>Publish</a:t>
            </a:r>
          </a:p>
          <a:p>
            <a:pPr lvl="0" algn="ctr" rtl="0">
              <a:spcBef>
                <a:spcPts val="0"/>
              </a:spcBef>
              <a:buNone/>
            </a:pPr>
            <a:r>
              <a:rPr lang="en-US" sz="2400" dirty="0">
                <a:solidFill>
                  <a:srgbClr val="EFEFEF"/>
                </a:solidFill>
              </a:rPr>
              <a:t>[Stage]</a:t>
            </a:r>
          </a:p>
        </p:txBody>
      </p:sp>
      <p:cxnSp>
        <p:nvCxnSpPr>
          <p:cNvPr id="332" name="Shape 332"/>
          <p:cNvCxnSpPr>
            <a:stCxn id="328" idx="3"/>
            <a:endCxn id="329" idx="1"/>
          </p:cNvCxnSpPr>
          <p:nvPr/>
        </p:nvCxnSpPr>
        <p:spPr>
          <a:xfrm>
            <a:off x="1946250" y="3575775"/>
            <a:ext cx="12732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33" name="Shape 333"/>
          <p:cNvCxnSpPr>
            <a:stCxn id="329" idx="3"/>
            <a:endCxn id="330" idx="1"/>
          </p:cNvCxnSpPr>
          <p:nvPr/>
        </p:nvCxnSpPr>
        <p:spPr>
          <a:xfrm>
            <a:off x="4918050" y="3575775"/>
            <a:ext cx="28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34" name="Shape 334"/>
          <p:cNvCxnSpPr>
            <a:endCxn id="331" idx="1"/>
          </p:cNvCxnSpPr>
          <p:nvPr/>
        </p:nvCxnSpPr>
        <p:spPr>
          <a:xfrm>
            <a:off x="6899250" y="3575775"/>
            <a:ext cx="282600" cy="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ysDash"/>
            <a:round/>
            <a:headEnd type="none" w="lg" len="lg"/>
            <a:tailEnd type="triangle" w="lg" len="lg"/>
          </a:ln>
        </p:spPr>
      </p:cxnSp>
      <p:sp>
        <p:nvSpPr>
          <p:cNvPr id="335" name="Shape 335"/>
          <p:cNvSpPr/>
          <p:nvPr/>
        </p:nvSpPr>
        <p:spPr>
          <a:xfrm>
            <a:off x="2016125" y="3079750"/>
            <a:ext cx="996900" cy="9684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300"/>
              <a:t>Extract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Shape 327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 dirty="0"/>
              <a:t>Our </a:t>
            </a:r>
            <a:r>
              <a:rPr lang="en-US" dirty="0" smtClean="0"/>
              <a:t>finished network of </a:t>
            </a:r>
            <a:br>
              <a:rPr lang="en-US" dirty="0" smtClean="0"/>
            </a:br>
            <a:r>
              <a:rPr lang="en-US" dirty="0" smtClean="0"/>
              <a:t>continuous processes</a:t>
            </a:r>
            <a:endParaRPr lang="en-US" dirty="0"/>
          </a:p>
        </p:txBody>
      </p:sp>
      <p:sp>
        <p:nvSpPr>
          <p:cNvPr id="328" name="Shape 328"/>
          <p:cNvSpPr/>
          <p:nvPr/>
        </p:nvSpPr>
        <p:spPr>
          <a:xfrm>
            <a:off x="247650" y="1828800"/>
            <a:ext cx="1698600" cy="1325700"/>
          </a:xfrm>
          <a:prstGeom prst="flowChartOnlineStorag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r>
              <a:rPr lang="en-US" sz="2000" dirty="0" smtClean="0">
                <a:solidFill>
                  <a:srgbClr val="F3F3F3"/>
                </a:solidFill>
              </a:rPr>
              <a:t>Source</a:t>
            </a:r>
            <a:endParaRPr lang="en-US" sz="2000" dirty="0">
              <a:solidFill>
                <a:srgbClr val="F3F3F3"/>
              </a:solidFill>
            </a:endParaRPr>
          </a:p>
        </p:txBody>
      </p:sp>
      <p:sp>
        <p:nvSpPr>
          <p:cNvPr id="329" name="Shape 329"/>
          <p:cNvSpPr/>
          <p:nvPr/>
        </p:nvSpPr>
        <p:spPr>
          <a:xfrm>
            <a:off x="2051396" y="4114776"/>
            <a:ext cx="1371600" cy="990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000" dirty="0" smtClean="0"/>
              <a:t>Update Tibble</a:t>
            </a:r>
            <a:endParaRPr lang="en-US" sz="2000" dirty="0"/>
          </a:p>
        </p:txBody>
      </p:sp>
      <p:sp>
        <p:nvSpPr>
          <p:cNvPr id="330" name="Shape 330"/>
          <p:cNvSpPr/>
          <p:nvPr/>
        </p:nvSpPr>
        <p:spPr>
          <a:xfrm>
            <a:off x="3810000" y="2302909"/>
            <a:ext cx="1371600" cy="990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000" dirty="0" smtClean="0"/>
              <a:t>NLP + </a:t>
            </a:r>
            <a:r>
              <a:rPr lang="en-US" sz="1800" dirty="0" smtClean="0"/>
              <a:t>Regression</a:t>
            </a:r>
            <a:endParaRPr lang="en-US" sz="2000" dirty="0"/>
          </a:p>
        </p:txBody>
      </p:sp>
      <p:sp>
        <p:nvSpPr>
          <p:cNvPr id="331" name="Shape 331"/>
          <p:cNvSpPr/>
          <p:nvPr/>
        </p:nvSpPr>
        <p:spPr>
          <a:xfrm>
            <a:off x="5470212" y="1996362"/>
            <a:ext cx="1372161" cy="990576"/>
          </a:xfrm>
          <a:prstGeom prst="rect">
            <a:avLst/>
          </a:prstGeom>
          <a:solidFill>
            <a:srgbClr val="E03A3E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000" dirty="0" smtClean="0">
                <a:solidFill>
                  <a:srgbClr val="EFEFEF"/>
                </a:solidFill>
              </a:rPr>
              <a:t>Get list of data files in archive</a:t>
            </a:r>
            <a:endParaRPr lang="en-US" sz="1600" dirty="0">
              <a:solidFill>
                <a:srgbClr val="EFEFEF"/>
              </a:solidFill>
            </a:endParaRPr>
          </a:p>
        </p:txBody>
      </p:sp>
      <p:cxnSp>
        <p:nvCxnSpPr>
          <p:cNvPr id="6" name="Elbow Connector 5"/>
          <p:cNvCxnSpPr>
            <a:stCxn id="328" idx="2"/>
            <a:endCxn id="329" idx="1"/>
          </p:cNvCxnSpPr>
          <p:nvPr/>
        </p:nvCxnSpPr>
        <p:spPr>
          <a:xfrm rot="16200000" flipH="1">
            <a:off x="846385" y="3405065"/>
            <a:ext cx="1455576" cy="954446"/>
          </a:xfrm>
          <a:prstGeom prst="bentConnector2">
            <a:avLst/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" name="Shape 335"/>
          <p:cNvSpPr/>
          <p:nvPr/>
        </p:nvSpPr>
        <p:spPr>
          <a:xfrm>
            <a:off x="598499" y="4129572"/>
            <a:ext cx="996900" cy="9684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300"/>
              <a:t>Extract</a:t>
            </a:r>
          </a:p>
        </p:txBody>
      </p:sp>
      <p:cxnSp>
        <p:nvCxnSpPr>
          <p:cNvPr id="17" name="Elbow Connector 16"/>
          <p:cNvCxnSpPr>
            <a:stCxn id="330" idx="0"/>
            <a:endCxn id="27" idx="3"/>
          </p:cNvCxnSpPr>
          <p:nvPr/>
        </p:nvCxnSpPr>
        <p:spPr>
          <a:xfrm rot="16200000" flipH="1" flipV="1">
            <a:off x="3931024" y="1937962"/>
            <a:ext cx="199829" cy="929722"/>
          </a:xfrm>
          <a:prstGeom prst="bentConnector4">
            <a:avLst>
              <a:gd name="adj1" fmla="val -114398"/>
              <a:gd name="adj2" fmla="val 86882"/>
            </a:avLst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Shape 335"/>
          <p:cNvSpPr/>
          <p:nvPr/>
        </p:nvSpPr>
        <p:spPr>
          <a:xfrm>
            <a:off x="1908314" y="2018538"/>
            <a:ext cx="1657764" cy="968400"/>
          </a:xfrm>
          <a:prstGeom prst="flowChartDecision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r>
              <a:rPr lang="en-US" sz="1300" dirty="0" smtClean="0"/>
              <a:t>Site updated?</a:t>
            </a:r>
            <a:endParaRPr lang="en-US" sz="1300" dirty="0"/>
          </a:p>
        </p:txBody>
      </p:sp>
      <p:cxnSp>
        <p:nvCxnSpPr>
          <p:cNvPr id="19" name="Elbow Connector 18"/>
          <p:cNvCxnSpPr>
            <a:stCxn id="27" idx="2"/>
            <a:endCxn id="335" idx="7"/>
          </p:cNvCxnSpPr>
          <p:nvPr/>
        </p:nvCxnSpPr>
        <p:spPr>
          <a:xfrm rot="5400000">
            <a:off x="1451075" y="2985269"/>
            <a:ext cx="1284453" cy="1287790"/>
          </a:xfrm>
          <a:prstGeom prst="bentConnector3">
            <a:avLst/>
          </a:prstGeom>
          <a:ln>
            <a:solidFill>
              <a:schemeClr val="accent5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27" idx="1"/>
            <a:endCxn id="328" idx="3"/>
          </p:cNvCxnSpPr>
          <p:nvPr/>
        </p:nvCxnSpPr>
        <p:spPr>
          <a:xfrm flipH="1" flipV="1">
            <a:off x="1663150" y="2491650"/>
            <a:ext cx="245164" cy="11088"/>
          </a:xfrm>
          <a:prstGeom prst="straightConnector1">
            <a:avLst/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209800" y="3349823"/>
            <a:ext cx="494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Yes</a:t>
            </a:r>
            <a:endParaRPr lang="en-US" dirty="0"/>
          </a:p>
        </p:txBody>
      </p:sp>
      <p:cxnSp>
        <p:nvCxnSpPr>
          <p:cNvPr id="38" name="Shape 333"/>
          <p:cNvCxnSpPr>
            <a:stCxn id="330" idx="2"/>
            <a:endCxn id="52" idx="0"/>
          </p:cNvCxnSpPr>
          <p:nvPr/>
        </p:nvCxnSpPr>
        <p:spPr>
          <a:xfrm>
            <a:off x="4495800" y="3293509"/>
            <a:ext cx="0" cy="181172"/>
          </a:xfrm>
          <a:prstGeom prst="straightConnector1">
            <a:avLst/>
          </a:prstGeom>
          <a:noFill/>
          <a:ln w="9525" cap="flat" cmpd="sng">
            <a:solidFill>
              <a:schemeClr val="accent5">
                <a:lumMod val="75000"/>
              </a:schemeClr>
            </a:solidFill>
            <a:prstDash val="solid"/>
            <a:round/>
            <a:headEnd type="none" w="lg" len="lg"/>
            <a:tailEnd type="triangle" w="med" len="med"/>
          </a:ln>
        </p:spPr>
      </p:cxnSp>
      <p:sp>
        <p:nvSpPr>
          <p:cNvPr id="52" name="Shape 330"/>
          <p:cNvSpPr/>
          <p:nvPr/>
        </p:nvSpPr>
        <p:spPr>
          <a:xfrm>
            <a:off x="3810000" y="3474681"/>
            <a:ext cx="1371600" cy="1219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000" dirty="0" smtClean="0"/>
              <a:t>Update Archive</a:t>
            </a:r>
          </a:p>
          <a:p>
            <a:pPr lvl="0" algn="ctr" rtl="0">
              <a:spcBef>
                <a:spcPts val="0"/>
              </a:spcBef>
              <a:buNone/>
            </a:pPr>
            <a:r>
              <a:rPr lang="en-US" sz="2000" dirty="0" smtClean="0"/>
              <a:t>(JSON in “/data”)</a:t>
            </a:r>
            <a:endParaRPr lang="en-US" sz="2000" dirty="0"/>
          </a:p>
        </p:txBody>
      </p:sp>
      <p:sp>
        <p:nvSpPr>
          <p:cNvPr id="82" name="Shape 335"/>
          <p:cNvSpPr/>
          <p:nvPr/>
        </p:nvSpPr>
        <p:spPr>
          <a:xfrm>
            <a:off x="5438256" y="3600081"/>
            <a:ext cx="996900" cy="968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222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r>
              <a:rPr lang="en-US" sz="1300" dirty="0" smtClean="0">
                <a:solidFill>
                  <a:schemeClr val="bg1"/>
                </a:solidFill>
              </a:rPr>
              <a:t>Serve JSON files</a:t>
            </a:r>
            <a:endParaRPr lang="en-US" sz="1300" dirty="0">
              <a:solidFill>
                <a:schemeClr val="bg1"/>
              </a:solidFill>
            </a:endParaRPr>
          </a:p>
        </p:txBody>
      </p:sp>
      <p:cxnSp>
        <p:nvCxnSpPr>
          <p:cNvPr id="83" name="Straight Arrow Connector 82"/>
          <p:cNvCxnSpPr>
            <a:stCxn id="82" idx="2"/>
            <a:endCxn id="52" idx="3"/>
          </p:cNvCxnSpPr>
          <p:nvPr/>
        </p:nvCxnSpPr>
        <p:spPr>
          <a:xfrm flipH="1">
            <a:off x="5181600" y="4084281"/>
            <a:ext cx="256656" cy="0"/>
          </a:xfrm>
          <a:prstGeom prst="straightConnector1">
            <a:avLst/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stCxn id="331" idx="2"/>
            <a:endCxn id="82" idx="0"/>
          </p:cNvCxnSpPr>
          <p:nvPr/>
        </p:nvCxnSpPr>
        <p:spPr>
          <a:xfrm rot="5400000">
            <a:off x="5739929" y="3183716"/>
            <a:ext cx="613143" cy="219587"/>
          </a:xfrm>
          <a:prstGeom prst="bentConnector3">
            <a:avLst>
              <a:gd name="adj1" fmla="val 50000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Shape 331"/>
          <p:cNvSpPr/>
          <p:nvPr/>
        </p:nvSpPr>
        <p:spPr>
          <a:xfrm>
            <a:off x="5470213" y="5181626"/>
            <a:ext cx="1372161" cy="990576"/>
          </a:xfrm>
          <a:prstGeom prst="rect">
            <a:avLst/>
          </a:prstGeom>
          <a:solidFill>
            <a:srgbClr val="E03A3E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000" dirty="0" smtClean="0">
                <a:solidFill>
                  <a:srgbClr val="EFEFEF"/>
                </a:solidFill>
              </a:rPr>
              <a:t>Get latest file on list</a:t>
            </a:r>
            <a:endParaRPr lang="en-US" sz="1600" dirty="0">
              <a:solidFill>
                <a:srgbClr val="EFEFEF"/>
              </a:solidFill>
            </a:endParaRPr>
          </a:p>
        </p:txBody>
      </p:sp>
      <p:sp>
        <p:nvSpPr>
          <p:cNvPr id="92" name="Shape 328"/>
          <p:cNvSpPr/>
          <p:nvPr/>
        </p:nvSpPr>
        <p:spPr>
          <a:xfrm>
            <a:off x="1128988" y="5624925"/>
            <a:ext cx="180975" cy="165526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endParaRPr lang="en-US" sz="2000" dirty="0">
              <a:solidFill>
                <a:srgbClr val="F3F3F3"/>
              </a:solidFill>
            </a:endParaRPr>
          </a:p>
        </p:txBody>
      </p:sp>
      <p:sp>
        <p:nvSpPr>
          <p:cNvPr id="343" name="TextBox 342"/>
          <p:cNvSpPr txBox="1"/>
          <p:nvPr/>
        </p:nvSpPr>
        <p:spPr>
          <a:xfrm>
            <a:off x="1309963" y="5567932"/>
            <a:ext cx="1066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= Craigslist</a:t>
            </a:r>
            <a:endParaRPr lang="en-US" dirty="0"/>
          </a:p>
        </p:txBody>
      </p:sp>
      <p:sp>
        <p:nvSpPr>
          <p:cNvPr id="94" name="Shape 328"/>
          <p:cNvSpPr/>
          <p:nvPr/>
        </p:nvSpPr>
        <p:spPr>
          <a:xfrm>
            <a:off x="1143000" y="5921416"/>
            <a:ext cx="180975" cy="1655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endParaRPr lang="en-US" sz="2000" dirty="0">
              <a:solidFill>
                <a:srgbClr val="F3F3F3"/>
              </a:solidFill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323975" y="5864423"/>
            <a:ext cx="1066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= </a:t>
            </a:r>
            <a:r>
              <a:rPr lang="en-US" i="1" dirty="0" smtClean="0"/>
              <a:t>R</a:t>
            </a:r>
            <a:r>
              <a:rPr lang="en-US" sz="1100" dirty="0" smtClean="0"/>
              <a:t>1</a:t>
            </a:r>
            <a:endParaRPr lang="en-US" dirty="0"/>
          </a:p>
        </p:txBody>
      </p:sp>
      <p:sp>
        <p:nvSpPr>
          <p:cNvPr id="96" name="Shape 328"/>
          <p:cNvSpPr/>
          <p:nvPr/>
        </p:nvSpPr>
        <p:spPr>
          <a:xfrm>
            <a:off x="1143000" y="6229193"/>
            <a:ext cx="180975" cy="16552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endParaRPr lang="en-US" sz="2000" dirty="0">
              <a:solidFill>
                <a:srgbClr val="F3F3F3"/>
              </a:solidFill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323975" y="6172200"/>
            <a:ext cx="1066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= </a:t>
            </a:r>
            <a:r>
              <a:rPr lang="en-US" i="1" dirty="0" smtClean="0"/>
              <a:t>R</a:t>
            </a:r>
            <a:r>
              <a:rPr lang="en-US" sz="1100" dirty="0" smtClean="0"/>
              <a:t>2</a:t>
            </a:r>
            <a:endParaRPr lang="en-US" dirty="0"/>
          </a:p>
        </p:txBody>
      </p:sp>
      <p:sp>
        <p:nvSpPr>
          <p:cNvPr id="98" name="Shape 328"/>
          <p:cNvSpPr/>
          <p:nvPr/>
        </p:nvSpPr>
        <p:spPr>
          <a:xfrm>
            <a:off x="1143000" y="6531016"/>
            <a:ext cx="180975" cy="165526"/>
          </a:xfrm>
          <a:prstGeom prst="rect">
            <a:avLst/>
          </a:prstGeom>
          <a:solidFill>
            <a:srgbClr val="FF5050"/>
          </a:solidFill>
          <a:ln w="31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endParaRPr lang="en-US" sz="2000" dirty="0">
              <a:solidFill>
                <a:srgbClr val="F3F3F3"/>
              </a:solidFill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1323974" y="6474023"/>
            <a:ext cx="23738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= D3 JS/CSS/HTML Vis</a:t>
            </a:r>
            <a:endParaRPr lang="en-US" dirty="0"/>
          </a:p>
        </p:txBody>
      </p:sp>
      <p:cxnSp>
        <p:nvCxnSpPr>
          <p:cNvPr id="64" name="Elbow Connector 63"/>
          <p:cNvCxnSpPr>
            <a:stCxn id="90" idx="0"/>
            <a:endCxn id="331" idx="3"/>
          </p:cNvCxnSpPr>
          <p:nvPr/>
        </p:nvCxnSpPr>
        <p:spPr>
          <a:xfrm rot="5400000" flipH="1" flipV="1">
            <a:off x="5154345" y="3493599"/>
            <a:ext cx="2689976" cy="686079"/>
          </a:xfrm>
          <a:prstGeom prst="bentConnector4">
            <a:avLst>
              <a:gd name="adj1" fmla="val 19710"/>
              <a:gd name="adj2" fmla="val 133320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Shape 331"/>
          <p:cNvSpPr/>
          <p:nvPr/>
        </p:nvSpPr>
        <p:spPr>
          <a:xfrm>
            <a:off x="7543800" y="4542560"/>
            <a:ext cx="1372161" cy="990576"/>
          </a:xfrm>
          <a:prstGeom prst="rect">
            <a:avLst/>
          </a:prstGeom>
          <a:solidFill>
            <a:srgbClr val="E03A3E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000" dirty="0" smtClean="0">
                <a:solidFill>
                  <a:srgbClr val="EFEFEF"/>
                </a:solidFill>
              </a:rPr>
              <a:t>Create vis</a:t>
            </a:r>
            <a:endParaRPr lang="en-US" sz="1600" dirty="0">
              <a:solidFill>
                <a:srgbClr val="EFEFEF"/>
              </a:solidFill>
            </a:endParaRPr>
          </a:p>
        </p:txBody>
      </p:sp>
      <p:sp>
        <p:nvSpPr>
          <p:cNvPr id="111" name="Shape 331"/>
          <p:cNvSpPr/>
          <p:nvPr/>
        </p:nvSpPr>
        <p:spPr>
          <a:xfrm>
            <a:off x="7543800" y="3280816"/>
            <a:ext cx="1372161" cy="990576"/>
          </a:xfrm>
          <a:prstGeom prst="rect">
            <a:avLst/>
          </a:prstGeom>
          <a:solidFill>
            <a:srgbClr val="E03A3E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000" dirty="0" smtClean="0">
                <a:solidFill>
                  <a:srgbClr val="EFEFEF"/>
                </a:solidFill>
              </a:rPr>
              <a:t>Update vis</a:t>
            </a:r>
            <a:endParaRPr lang="en-US" sz="1600" dirty="0">
              <a:solidFill>
                <a:srgbClr val="EFEFEF"/>
              </a:solidFill>
            </a:endParaRPr>
          </a:p>
        </p:txBody>
      </p:sp>
      <p:cxnSp>
        <p:nvCxnSpPr>
          <p:cNvPr id="66" name="Elbow Connector 65"/>
          <p:cNvCxnSpPr>
            <a:stCxn id="90" idx="2"/>
            <a:endCxn id="110" idx="1"/>
          </p:cNvCxnSpPr>
          <p:nvPr/>
        </p:nvCxnSpPr>
        <p:spPr>
          <a:xfrm rot="5400000" flipH="1" flipV="1">
            <a:off x="6282870" y="4911272"/>
            <a:ext cx="1134354" cy="1387506"/>
          </a:xfrm>
          <a:prstGeom prst="bentConnector4">
            <a:avLst>
              <a:gd name="adj1" fmla="val -20152"/>
              <a:gd name="adj2" fmla="val 91407"/>
            </a:avLst>
          </a:prstGeom>
          <a:ln>
            <a:solidFill>
              <a:schemeClr val="accent5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6765164" y="6097175"/>
            <a:ext cx="7024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On </a:t>
            </a:r>
            <a:r>
              <a:rPr lang="en-US" dirty="0" err="1" smtClean="0"/>
              <a:t>init</a:t>
            </a:r>
            <a:endParaRPr lang="en-US" dirty="0"/>
          </a:p>
        </p:txBody>
      </p:sp>
      <p:cxnSp>
        <p:nvCxnSpPr>
          <p:cNvPr id="68" name="Elbow Connector 67"/>
          <p:cNvCxnSpPr>
            <a:stCxn id="90" idx="3"/>
            <a:endCxn id="111" idx="1"/>
          </p:cNvCxnSpPr>
          <p:nvPr/>
        </p:nvCxnSpPr>
        <p:spPr>
          <a:xfrm flipV="1">
            <a:off x="6842374" y="3776104"/>
            <a:ext cx="701426" cy="1900810"/>
          </a:xfrm>
          <a:prstGeom prst="bentConnector3">
            <a:avLst>
              <a:gd name="adj1" fmla="val 56600"/>
            </a:avLst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69"/>
          <p:cNvCxnSpPr>
            <a:stCxn id="111" idx="0"/>
            <a:endCxn id="331" idx="0"/>
          </p:cNvCxnSpPr>
          <p:nvPr/>
        </p:nvCxnSpPr>
        <p:spPr>
          <a:xfrm rot="16200000" flipV="1">
            <a:off x="6550860" y="1601795"/>
            <a:ext cx="1284454" cy="2073588"/>
          </a:xfrm>
          <a:prstGeom prst="bentConnector3">
            <a:avLst>
              <a:gd name="adj1" fmla="val 117797"/>
            </a:avLst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Elbow Connector 369"/>
          <p:cNvCxnSpPr>
            <a:stCxn id="90" idx="1"/>
            <a:endCxn id="82" idx="4"/>
          </p:cNvCxnSpPr>
          <p:nvPr/>
        </p:nvCxnSpPr>
        <p:spPr>
          <a:xfrm rot="10800000" flipH="1">
            <a:off x="5470212" y="4568482"/>
            <a:ext cx="466493" cy="1108433"/>
          </a:xfrm>
          <a:prstGeom prst="bentConnector4">
            <a:avLst>
              <a:gd name="adj1" fmla="val -49004"/>
              <a:gd name="adj2" fmla="val 72342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Elbow Connector 394"/>
          <p:cNvCxnSpPr>
            <a:stCxn id="329" idx="3"/>
            <a:endCxn id="330" idx="1"/>
          </p:cNvCxnSpPr>
          <p:nvPr/>
        </p:nvCxnSpPr>
        <p:spPr>
          <a:xfrm flipV="1">
            <a:off x="3422996" y="2798209"/>
            <a:ext cx="387004" cy="1811867"/>
          </a:xfrm>
          <a:prstGeom prst="bentConnector3">
            <a:avLst>
              <a:gd name="adj1" fmla="val 50000"/>
            </a:avLst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61218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Shape 345"/>
          <p:cNvPicPr preferRelativeResize="0"/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ass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914400" y="0"/>
            <a:ext cx="12191998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Shape 346"/>
          <p:cNvSpPr txBox="1"/>
          <p:nvPr/>
        </p:nvSpPr>
        <p:spPr>
          <a:xfrm>
            <a:off x="-119669" y="-220890"/>
            <a:ext cx="9358800" cy="47091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buSzPct val="25000"/>
              <a:buNone/>
            </a:pPr>
            <a:r>
              <a:rPr lang="en-US" sz="12500" smtClean="0">
                <a:solidFill>
                  <a:srgbClr val="666666"/>
                </a:solidFill>
                <a:latin typeface="Cabin"/>
                <a:ea typeface="Cabin"/>
                <a:cs typeface="Cabin"/>
                <a:sym typeface="Cabin"/>
              </a:rPr>
              <a:t>In-Class</a:t>
            </a:r>
            <a:r>
              <a:rPr lang="en-US" sz="15000" smtClean="0">
                <a:solidFill>
                  <a:srgbClr val="666666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US" sz="15000" dirty="0">
                <a:solidFill>
                  <a:srgbClr val="666666"/>
                </a:solidFill>
                <a:latin typeface="Cabin"/>
                <a:ea typeface="Cabin"/>
                <a:cs typeface="Cabin"/>
                <a:sym typeface="Cabin"/>
              </a:rPr>
              <a:t>Exercise 2</a:t>
            </a:r>
          </a:p>
        </p:txBody>
      </p:sp>
      <p:sp>
        <p:nvSpPr>
          <p:cNvPr id="347" name="Shape 347"/>
          <p:cNvSpPr txBox="1"/>
          <p:nvPr/>
        </p:nvSpPr>
        <p:spPr>
          <a:xfrm>
            <a:off x="887225" y="5791200"/>
            <a:ext cx="8161500" cy="10667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76200" lvl="0" rtl="0">
              <a:spcBef>
                <a:spcPts val="0"/>
              </a:spcBef>
              <a:buClr>
                <a:srgbClr val="F3F3F3"/>
              </a:buClr>
              <a:buSzPct val="100000"/>
            </a:pPr>
            <a:r>
              <a:rPr lang="en-US" sz="2400" b="1" dirty="0" smtClean="0">
                <a:solidFill>
                  <a:srgbClr val="F3F3F3"/>
                </a:solidFill>
                <a:latin typeface="Open Sans"/>
                <a:ea typeface="Open Sans"/>
                <a:cs typeface="Open Sans"/>
                <a:sym typeface="Open Sans"/>
              </a:rPr>
              <a:t>Modify index.html to reflect your changes (Note: I don’t necessarily expect you to finish this now)</a:t>
            </a:r>
          </a:p>
          <a:p>
            <a:pPr marL="76200" lvl="0" rtl="0">
              <a:spcBef>
                <a:spcPts val="0"/>
              </a:spcBef>
              <a:buClr>
                <a:srgbClr val="F3F3F3"/>
              </a:buClr>
              <a:buSzPct val="100000"/>
            </a:pPr>
            <a:endParaRPr lang="en-US" sz="2400" b="1" dirty="0">
              <a:solidFill>
                <a:srgbClr val="F3F3F3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Shape 302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 dirty="0"/>
              <a:t>Data science </a:t>
            </a:r>
            <a:r>
              <a:rPr lang="en-US" dirty="0" smtClean="0"/>
              <a:t>workflow</a:t>
            </a:r>
            <a:endParaRPr lang="en-US" dirty="0"/>
          </a:p>
        </p:txBody>
      </p:sp>
      <p:sp>
        <p:nvSpPr>
          <p:cNvPr id="303" name="Shape 303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Scope out the problem or question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Knowledge search: Research and </a:t>
            </a:r>
            <a:r>
              <a:rPr lang="en-US" sz="2400" dirty="0" err="1"/>
              <a:t>sensemaking</a:t>
            </a:r>
            <a:r>
              <a:rPr lang="en-US" sz="2400" dirty="0"/>
              <a:t>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Data retrieval; extract, transform, load (ETL)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Exploratory analysis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Modeling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 smtClean="0"/>
              <a:t>System-building</a:t>
            </a:r>
            <a:endParaRPr lang="en-US" sz="3200" b="1" dirty="0"/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/>
              <a:t>Versioning/archival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/>
              <a:t>Communication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2185848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Visualization Pipeline</a:t>
            </a:r>
            <a:endParaRPr lang="en-US" dirty="0"/>
          </a:p>
        </p:txBody>
      </p:sp>
      <p:sp>
        <p:nvSpPr>
          <p:cNvPr id="5" name="Flowchart: Data 4"/>
          <p:cNvSpPr/>
          <p:nvPr/>
        </p:nvSpPr>
        <p:spPr>
          <a:xfrm>
            <a:off x="4210050" y="1981200"/>
            <a:ext cx="4648200" cy="1920240"/>
          </a:xfrm>
          <a:prstGeom prst="flowChartInputOutpu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 smtClean="0">
                <a:solidFill>
                  <a:schemeClr val="accent6">
                    <a:lumMod val="10000"/>
                  </a:schemeClr>
                </a:solidFill>
              </a:rPr>
              <a:t>Visual Form</a:t>
            </a:r>
            <a:endParaRPr lang="en-US" dirty="0">
              <a:solidFill>
                <a:schemeClr val="accent6">
                  <a:lumMod val="10000"/>
                </a:schemeClr>
              </a:solidFill>
            </a:endParaRPr>
          </a:p>
        </p:txBody>
      </p:sp>
      <p:sp>
        <p:nvSpPr>
          <p:cNvPr id="6" name="Flowchart: Data 5"/>
          <p:cNvSpPr/>
          <p:nvPr/>
        </p:nvSpPr>
        <p:spPr>
          <a:xfrm>
            <a:off x="76200" y="1981200"/>
            <a:ext cx="4648200" cy="1920240"/>
          </a:xfrm>
          <a:prstGeom prst="flowChartInputOutpu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 smtClean="0">
                <a:solidFill>
                  <a:schemeClr val="accent6">
                    <a:lumMod val="10000"/>
                  </a:schemeClr>
                </a:solidFill>
              </a:rPr>
              <a:t>Data</a:t>
            </a:r>
            <a:endParaRPr lang="en-US" dirty="0">
              <a:solidFill>
                <a:schemeClr val="accent6">
                  <a:lumMod val="10000"/>
                </a:schemeClr>
              </a:solidFill>
            </a:endParaRPr>
          </a:p>
        </p:txBody>
      </p:sp>
      <p:sp>
        <p:nvSpPr>
          <p:cNvPr id="9" name="Content Placeholder 2"/>
          <p:cNvSpPr txBox="1">
            <a:spLocks/>
          </p:cNvSpPr>
          <p:nvPr/>
        </p:nvSpPr>
        <p:spPr>
          <a:xfrm>
            <a:off x="457200" y="1600200"/>
            <a:ext cx="8229600" cy="46783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2641" indent="-166688" algn="l" defTabSz="685800" rtl="0" eaLnBrk="1" latinLnBrk="0" hangingPunct="1">
              <a:spcBef>
                <a:spcPts val="225"/>
              </a:spcBef>
              <a:spcAft>
                <a:spcPts val="450"/>
              </a:spcAft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215504" algn="l" defTabSz="685800" rtl="0" eaLnBrk="1" latinLnBrk="0" hangingPunct="1">
              <a:spcBef>
                <a:spcPts val="225"/>
              </a:spcBef>
              <a:spcAft>
                <a:spcPts val="450"/>
              </a:spcAft>
              <a:buFont typeface="Arial" panose="020B0604020202020204" pitchFamily="34" charset="0"/>
              <a:buChar char="–"/>
              <a:tabLst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spcBef>
                <a:spcPts val="225"/>
              </a:spcBef>
              <a:spcAft>
                <a:spcPts val="45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spcBef>
                <a:spcPts val="225"/>
              </a:spcBef>
              <a:spcAft>
                <a:spcPts val="45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spcBef>
                <a:spcPts val="225"/>
              </a:spcBef>
              <a:spcAft>
                <a:spcPts val="45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charset="0"/>
              <a:buChar char="•"/>
            </a:pPr>
            <a:endParaRPr lang="en-US" dirty="0" smtClean="0"/>
          </a:p>
        </p:txBody>
      </p:sp>
      <p:sp>
        <p:nvSpPr>
          <p:cNvPr id="10" name="Rectangle 9"/>
          <p:cNvSpPr/>
          <p:nvPr/>
        </p:nvSpPr>
        <p:spPr>
          <a:xfrm>
            <a:off x="1143000" y="5906869"/>
            <a:ext cx="70104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S.K</a:t>
            </a:r>
            <a:r>
              <a:rPr lang="en-US" dirty="0" smtClean="0"/>
              <a:t>. Card, </a:t>
            </a:r>
            <a:r>
              <a:rPr lang="en-US" dirty="0"/>
              <a:t>J.D. </a:t>
            </a:r>
            <a:r>
              <a:rPr lang="en-US" dirty="0" err="1" smtClean="0"/>
              <a:t>Mackinlay</a:t>
            </a:r>
            <a:r>
              <a:rPr lang="en-US" dirty="0"/>
              <a:t>, </a:t>
            </a:r>
            <a:r>
              <a:rPr lang="en-US" dirty="0" smtClean="0"/>
              <a:t>and </a:t>
            </a:r>
            <a:r>
              <a:rPr lang="en-US" dirty="0"/>
              <a:t>B. </a:t>
            </a:r>
            <a:r>
              <a:rPr lang="en-US" dirty="0" err="1" smtClean="0"/>
              <a:t>Shneiderman</a:t>
            </a:r>
            <a:r>
              <a:rPr lang="en-US" dirty="0" smtClean="0"/>
              <a:t> [eds.], “Readings </a:t>
            </a:r>
            <a:r>
              <a:rPr lang="en-US" dirty="0"/>
              <a:t>in information visualization: using vision to think</a:t>
            </a:r>
            <a:r>
              <a:rPr lang="en-US" dirty="0" smtClean="0"/>
              <a:t>.” </a:t>
            </a:r>
            <a:r>
              <a:rPr lang="en-US" i="1" dirty="0"/>
              <a:t>Morgan </a:t>
            </a:r>
            <a:r>
              <a:rPr lang="en-US" i="1" dirty="0" smtClean="0"/>
              <a:t>Kaufmann</a:t>
            </a:r>
            <a:r>
              <a:rPr lang="en-US" i="1" dirty="0"/>
              <a:t>,</a:t>
            </a:r>
            <a:r>
              <a:rPr lang="en-US" dirty="0" smtClean="0"/>
              <a:t> 1999.</a:t>
            </a:r>
            <a:endParaRPr lang="en-US" i="1" dirty="0"/>
          </a:p>
        </p:txBody>
      </p:sp>
      <p:sp>
        <p:nvSpPr>
          <p:cNvPr id="11" name="Flowchart: Data 10"/>
          <p:cNvSpPr/>
          <p:nvPr/>
        </p:nvSpPr>
        <p:spPr>
          <a:xfrm>
            <a:off x="438150" y="2705100"/>
            <a:ext cx="1920240" cy="838200"/>
          </a:xfrm>
          <a:prstGeom prst="flowChartInputOut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Raw Data</a:t>
            </a:r>
            <a:endParaRPr lang="en-US" dirty="0"/>
          </a:p>
        </p:txBody>
      </p:sp>
      <p:sp>
        <p:nvSpPr>
          <p:cNvPr id="12" name="Flowchart: Data 11"/>
          <p:cNvSpPr/>
          <p:nvPr/>
        </p:nvSpPr>
        <p:spPr>
          <a:xfrm>
            <a:off x="2266950" y="2705100"/>
            <a:ext cx="1920240" cy="838200"/>
          </a:xfrm>
          <a:prstGeom prst="flowChartInputOut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Data Tables</a:t>
            </a:r>
            <a:endParaRPr lang="en-US" dirty="0"/>
          </a:p>
        </p:txBody>
      </p:sp>
      <p:sp>
        <p:nvSpPr>
          <p:cNvPr id="13" name="Flowchart: Data 12"/>
          <p:cNvSpPr/>
          <p:nvPr/>
        </p:nvSpPr>
        <p:spPr>
          <a:xfrm>
            <a:off x="4552950" y="2705100"/>
            <a:ext cx="1920240" cy="838200"/>
          </a:xfrm>
          <a:prstGeom prst="flowChartInputOutpu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Visual Structures</a:t>
            </a:r>
            <a:endParaRPr lang="en-US" dirty="0"/>
          </a:p>
        </p:txBody>
      </p:sp>
      <p:sp>
        <p:nvSpPr>
          <p:cNvPr id="14" name="Flowchart: Data 13"/>
          <p:cNvSpPr/>
          <p:nvPr/>
        </p:nvSpPr>
        <p:spPr>
          <a:xfrm>
            <a:off x="6381750" y="2705100"/>
            <a:ext cx="1920240" cy="838200"/>
          </a:xfrm>
          <a:prstGeom prst="flowChartInputOutpu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Views</a:t>
            </a:r>
            <a:endParaRPr lang="en-US" dirty="0"/>
          </a:p>
        </p:txBody>
      </p:sp>
      <p:sp>
        <p:nvSpPr>
          <p:cNvPr id="16" name="Flowchart: Process 15"/>
          <p:cNvSpPr/>
          <p:nvPr/>
        </p:nvSpPr>
        <p:spPr>
          <a:xfrm>
            <a:off x="3505200" y="4876800"/>
            <a:ext cx="1295400" cy="914400"/>
          </a:xfrm>
          <a:prstGeom prst="flowChartProcess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accent6">
                    <a:lumMod val="10000"/>
                  </a:schemeClr>
                </a:solidFill>
              </a:rPr>
              <a:t>Human Interaction</a:t>
            </a:r>
            <a:endParaRPr lang="en-US" dirty="0">
              <a:solidFill>
                <a:schemeClr val="accent6">
                  <a:lumMod val="10000"/>
                </a:schemeClr>
              </a:solidFill>
            </a:endParaRPr>
          </a:p>
        </p:txBody>
      </p:sp>
      <p:cxnSp>
        <p:nvCxnSpPr>
          <p:cNvPr id="17" name="Straight Arrow Connector 16"/>
          <p:cNvCxnSpPr>
            <a:stCxn id="11" idx="5"/>
            <a:endCxn id="12" idx="2"/>
          </p:cNvCxnSpPr>
          <p:nvPr/>
        </p:nvCxnSpPr>
        <p:spPr>
          <a:xfrm>
            <a:off x="2166366" y="3124200"/>
            <a:ext cx="292608" cy="0"/>
          </a:xfrm>
          <a:prstGeom prst="straightConnector1">
            <a:avLst/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2" idx="5"/>
            <a:endCxn id="13" idx="2"/>
          </p:cNvCxnSpPr>
          <p:nvPr/>
        </p:nvCxnSpPr>
        <p:spPr>
          <a:xfrm>
            <a:off x="3995166" y="3124200"/>
            <a:ext cx="749808" cy="0"/>
          </a:xfrm>
          <a:prstGeom prst="straightConnector1">
            <a:avLst/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13" idx="5"/>
            <a:endCxn id="14" idx="2"/>
          </p:cNvCxnSpPr>
          <p:nvPr/>
        </p:nvCxnSpPr>
        <p:spPr>
          <a:xfrm>
            <a:off x="6281166" y="3124200"/>
            <a:ext cx="292608" cy="0"/>
          </a:xfrm>
          <a:prstGeom prst="straightConnector1">
            <a:avLst/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Elbow Connector 19"/>
          <p:cNvCxnSpPr/>
          <p:nvPr/>
        </p:nvCxnSpPr>
        <p:spPr>
          <a:xfrm rot="16200000" flipV="1">
            <a:off x="2941320" y="3665220"/>
            <a:ext cx="670560" cy="1752600"/>
          </a:xfrm>
          <a:prstGeom prst="bentConnector3">
            <a:avLst/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Elbow Connector 20"/>
          <p:cNvCxnSpPr/>
          <p:nvPr/>
        </p:nvCxnSpPr>
        <p:spPr>
          <a:xfrm rot="5400000" flipH="1" flipV="1">
            <a:off x="4775835" y="3583305"/>
            <a:ext cx="670560" cy="1916430"/>
          </a:xfrm>
          <a:prstGeom prst="bentConnector3">
            <a:avLst>
              <a:gd name="adj1" fmla="val 50000"/>
            </a:avLst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V="1">
            <a:off x="4152900" y="4206240"/>
            <a:ext cx="0" cy="670560"/>
          </a:xfrm>
          <a:prstGeom prst="straightConnector1">
            <a:avLst/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1835273" y="3848100"/>
            <a:ext cx="11300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Transform</a:t>
            </a:r>
            <a:endParaRPr lang="en-US" dirty="0"/>
          </a:p>
        </p:txBody>
      </p:sp>
      <p:sp>
        <p:nvSpPr>
          <p:cNvPr id="24" name="Rectangle 23"/>
          <p:cNvSpPr/>
          <p:nvPr/>
        </p:nvSpPr>
        <p:spPr>
          <a:xfrm>
            <a:off x="3810000" y="3848100"/>
            <a:ext cx="6142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Map</a:t>
            </a:r>
            <a:endParaRPr lang="en-US" dirty="0"/>
          </a:p>
        </p:txBody>
      </p:sp>
      <p:sp>
        <p:nvSpPr>
          <p:cNvPr id="25" name="Rectangle 24"/>
          <p:cNvSpPr/>
          <p:nvPr/>
        </p:nvSpPr>
        <p:spPr>
          <a:xfrm>
            <a:off x="5541645" y="3848100"/>
            <a:ext cx="11300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Transform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0431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223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2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lvl="0">
              <a:buSzPct val="25000"/>
            </a:pPr>
            <a:r>
              <a:rPr lang="en-US" dirty="0" smtClean="0"/>
              <a:t>Exploratory </a:t>
            </a:r>
            <a:r>
              <a:rPr lang="en-US" dirty="0"/>
              <a:t>Data Analysis (EDA)</a:t>
            </a:r>
          </a:p>
        </p:txBody>
      </p:sp>
      <p:sp>
        <p:nvSpPr>
          <p:cNvPr id="225" name="Shape 225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1682277" cy="36512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rPr>
              <a:t>27</a:t>
            </a:fld>
            <a:endParaRPr lang="en-US" sz="1200">
              <a:solidFill>
                <a:srgbClr val="888888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1634280" y="2206388"/>
            <a:ext cx="8541607" cy="618892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28600" marR="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685800" marR="0" lvl="1" indent="-76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143000" marR="0" lvl="2" indent="-101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▪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600200" marR="0" lvl="3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057400" marR="0" lvl="4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514600" marR="0" lvl="5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971800" marR="0" lvl="6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429000" marR="0" lvl="7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886200" marR="0" lvl="8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r>
              <a:rPr lang="en-US" sz="2000" dirty="0" smtClean="0"/>
              <a:t>Based on </a:t>
            </a:r>
            <a:r>
              <a:rPr lang="en-US" sz="2000" dirty="0" err="1" smtClean="0"/>
              <a:t>Tukey</a:t>
            </a:r>
            <a:r>
              <a:rPr lang="en-US" sz="2000" dirty="0" smtClean="0"/>
              <a:t>, J.W. </a:t>
            </a:r>
            <a:r>
              <a:rPr lang="en-US" sz="2000" i="1" dirty="0" smtClean="0"/>
              <a:t>The Future of Data Analysis</a:t>
            </a:r>
            <a:r>
              <a:rPr lang="en-US" sz="2000" dirty="0" smtClean="0"/>
              <a:t>. 1962. 				   </a:t>
            </a:r>
            <a:r>
              <a:rPr lang="en-US" sz="2000" i="1" dirty="0" smtClean="0"/>
              <a:t>and</a:t>
            </a:r>
            <a:r>
              <a:rPr lang="en-US" sz="2000" dirty="0" smtClean="0"/>
              <a:t> Exploratory data analysis. 1977. </a:t>
            </a:r>
            <a:endParaRPr lang="en-US" sz="2000" dirty="0"/>
          </a:p>
        </p:txBody>
      </p:sp>
      <p:sp>
        <p:nvSpPr>
          <p:cNvPr id="13" name="TextBox 12"/>
          <p:cNvSpPr txBox="1"/>
          <p:nvPr/>
        </p:nvSpPr>
        <p:spPr>
          <a:xfrm>
            <a:off x="-198104" y="3454032"/>
            <a:ext cx="14917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Acquisition</a:t>
            </a:r>
            <a:endParaRPr lang="en-US" sz="1600" dirty="0"/>
          </a:p>
        </p:txBody>
      </p:sp>
      <p:cxnSp>
        <p:nvCxnSpPr>
          <p:cNvPr id="14" name="Straight Arrow Connector 13"/>
          <p:cNvCxnSpPr/>
          <p:nvPr/>
        </p:nvCxnSpPr>
        <p:spPr>
          <a:xfrm>
            <a:off x="1084339" y="3635647"/>
            <a:ext cx="351825" cy="655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45982" y="3454032"/>
            <a:ext cx="19108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Hypotheses</a:t>
            </a:r>
            <a:endParaRPr lang="en-US" sz="1600" dirty="0"/>
          </a:p>
        </p:txBody>
      </p:sp>
      <p:cxnSp>
        <p:nvCxnSpPr>
          <p:cNvPr id="16" name="Straight Arrow Connector 15"/>
          <p:cNvCxnSpPr/>
          <p:nvPr/>
        </p:nvCxnSpPr>
        <p:spPr>
          <a:xfrm>
            <a:off x="7618147" y="3623309"/>
            <a:ext cx="306653" cy="655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2" name="Group 231"/>
          <p:cNvGrpSpPr/>
          <p:nvPr/>
        </p:nvGrpSpPr>
        <p:grpSpPr>
          <a:xfrm>
            <a:off x="1522249" y="1752600"/>
            <a:ext cx="6021551" cy="3705727"/>
            <a:chOff x="1446049" y="1752600"/>
            <a:chExt cx="6021551" cy="3705727"/>
          </a:xfrm>
        </p:grpSpPr>
        <p:sp>
          <p:nvSpPr>
            <p:cNvPr id="7" name="Oval 6"/>
            <p:cNvSpPr/>
            <p:nvPr/>
          </p:nvSpPr>
          <p:spPr>
            <a:xfrm>
              <a:off x="1446049" y="1752600"/>
              <a:ext cx="6021551" cy="3705727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670736" y="3115478"/>
              <a:ext cx="1758264" cy="10156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lang="en-US" sz="2000" dirty="0" smtClean="0"/>
            </a:p>
            <a:p>
              <a:pPr algn="ctr"/>
              <a:r>
                <a:rPr lang="en-US" sz="2000" dirty="0" smtClean="0"/>
                <a:t>Summarize</a:t>
              </a:r>
            </a:p>
            <a:p>
              <a:pPr algn="ctr"/>
              <a:endParaRPr lang="en-US" sz="2000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562600" y="3115478"/>
              <a:ext cx="1658410" cy="10156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lang="en-US" sz="2000" dirty="0" smtClean="0"/>
            </a:p>
            <a:p>
              <a:pPr algn="ctr"/>
              <a:r>
                <a:rPr lang="en-US" sz="2000" dirty="0" smtClean="0"/>
                <a:t>Tabulate</a:t>
              </a:r>
            </a:p>
            <a:p>
              <a:pPr algn="ctr"/>
              <a:endParaRPr lang="en-US" sz="20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707175" y="2133600"/>
              <a:ext cx="1550651" cy="10156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lang="en-US" sz="2000" dirty="0" smtClean="0"/>
            </a:p>
            <a:p>
              <a:pPr algn="ctr"/>
              <a:r>
                <a:rPr lang="en-US" sz="2000" dirty="0" smtClean="0"/>
                <a:t>Model</a:t>
              </a:r>
            </a:p>
            <a:p>
              <a:pPr algn="ctr"/>
              <a:endParaRPr lang="en-US" sz="2000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708494" y="4072539"/>
              <a:ext cx="1556353" cy="10156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lang="en-US" sz="2000" dirty="0" smtClean="0"/>
            </a:p>
            <a:p>
              <a:pPr algn="ctr"/>
              <a:r>
                <a:rPr lang="en-US" sz="2000" dirty="0" smtClean="0"/>
                <a:t>Graph</a:t>
              </a:r>
            </a:p>
            <a:p>
              <a:pPr algn="ctr"/>
              <a:endParaRPr lang="en-US" sz="2000" dirty="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065829" y="3352800"/>
              <a:ext cx="8536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 smtClean="0"/>
                <a:t>EDA</a:t>
              </a:r>
              <a:endParaRPr lang="en-US" sz="2400" b="1" dirty="0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 flipH="1" flipV="1">
              <a:off x="6477000" y="2209800"/>
              <a:ext cx="192506" cy="10635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V="1">
              <a:off x="6400800" y="4928452"/>
              <a:ext cx="231203" cy="10074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/>
            <p:nvPr/>
          </p:nvCxnSpPr>
          <p:spPr>
            <a:xfrm>
              <a:off x="2057400" y="4724400"/>
              <a:ext cx="207738" cy="11772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/>
            <p:nvPr/>
          </p:nvCxnSpPr>
          <p:spPr>
            <a:xfrm flipH="1">
              <a:off x="2209800" y="2209800"/>
              <a:ext cx="254197" cy="15834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0738438"/>
      </p:ext>
    </p:extLst>
  </p:cSld>
  <p:clrMapOvr>
    <a:masterClrMapping/>
  </p:clrMapOvr>
  <p:transition spd="slow">
    <p:fade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lowchart: Data 4"/>
          <p:cNvSpPr/>
          <p:nvPr/>
        </p:nvSpPr>
        <p:spPr>
          <a:xfrm>
            <a:off x="4210050" y="1981200"/>
            <a:ext cx="4648200" cy="1920240"/>
          </a:xfrm>
          <a:prstGeom prst="flowChartInputOutpu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 smtClean="0">
                <a:solidFill>
                  <a:schemeClr val="accent6">
                    <a:lumMod val="10000"/>
                  </a:schemeClr>
                </a:solidFill>
              </a:rPr>
              <a:t>Visual Form</a:t>
            </a:r>
            <a:endParaRPr lang="en-US" dirty="0">
              <a:solidFill>
                <a:schemeClr val="accent6">
                  <a:lumMod val="10000"/>
                </a:schemeClr>
              </a:solidFill>
            </a:endParaRPr>
          </a:p>
        </p:txBody>
      </p:sp>
      <p:sp>
        <p:nvSpPr>
          <p:cNvPr id="6" name="Flowchart: Data 5"/>
          <p:cNvSpPr/>
          <p:nvPr/>
        </p:nvSpPr>
        <p:spPr>
          <a:xfrm>
            <a:off x="76200" y="1981200"/>
            <a:ext cx="4648200" cy="1920240"/>
          </a:xfrm>
          <a:prstGeom prst="flowChartInputOutpu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 smtClean="0">
                <a:solidFill>
                  <a:schemeClr val="accent6">
                    <a:lumMod val="10000"/>
                  </a:schemeClr>
                </a:solidFill>
              </a:rPr>
              <a:t>Data</a:t>
            </a:r>
            <a:endParaRPr lang="en-US" dirty="0">
              <a:solidFill>
                <a:schemeClr val="accent6">
                  <a:lumMod val="10000"/>
                </a:schemeClr>
              </a:solidFill>
            </a:endParaRPr>
          </a:p>
        </p:txBody>
      </p:sp>
      <p:sp>
        <p:nvSpPr>
          <p:cNvPr id="9" name="Content Placeholder 2"/>
          <p:cNvSpPr txBox="1">
            <a:spLocks/>
          </p:cNvSpPr>
          <p:nvPr/>
        </p:nvSpPr>
        <p:spPr>
          <a:xfrm>
            <a:off x="457200" y="1600200"/>
            <a:ext cx="8229600" cy="46783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2641" indent="-166688" algn="l" defTabSz="685800" rtl="0" eaLnBrk="1" latinLnBrk="0" hangingPunct="1">
              <a:spcBef>
                <a:spcPts val="225"/>
              </a:spcBef>
              <a:spcAft>
                <a:spcPts val="450"/>
              </a:spcAft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215504" algn="l" defTabSz="685800" rtl="0" eaLnBrk="1" latinLnBrk="0" hangingPunct="1">
              <a:spcBef>
                <a:spcPts val="225"/>
              </a:spcBef>
              <a:spcAft>
                <a:spcPts val="450"/>
              </a:spcAft>
              <a:buFont typeface="Arial" panose="020B0604020202020204" pitchFamily="34" charset="0"/>
              <a:buChar char="–"/>
              <a:tabLst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spcBef>
                <a:spcPts val="225"/>
              </a:spcBef>
              <a:spcAft>
                <a:spcPts val="45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spcBef>
                <a:spcPts val="225"/>
              </a:spcBef>
              <a:spcAft>
                <a:spcPts val="45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spcBef>
                <a:spcPts val="225"/>
              </a:spcBef>
              <a:spcAft>
                <a:spcPts val="45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charset="0"/>
              <a:buChar char="•"/>
            </a:pPr>
            <a:endParaRPr lang="en-US" dirty="0" smtClean="0"/>
          </a:p>
        </p:txBody>
      </p:sp>
      <p:sp>
        <p:nvSpPr>
          <p:cNvPr id="11" name="Flowchart: Data 10"/>
          <p:cNvSpPr/>
          <p:nvPr/>
        </p:nvSpPr>
        <p:spPr>
          <a:xfrm>
            <a:off x="438150" y="2705100"/>
            <a:ext cx="1920240" cy="838200"/>
          </a:xfrm>
          <a:prstGeom prst="flowChartInputOut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Raw Data</a:t>
            </a:r>
            <a:endParaRPr lang="en-US" dirty="0"/>
          </a:p>
        </p:txBody>
      </p:sp>
      <p:sp>
        <p:nvSpPr>
          <p:cNvPr id="12" name="Flowchart: Data 11"/>
          <p:cNvSpPr/>
          <p:nvPr/>
        </p:nvSpPr>
        <p:spPr>
          <a:xfrm>
            <a:off x="2266950" y="2705100"/>
            <a:ext cx="1920240" cy="838200"/>
          </a:xfrm>
          <a:prstGeom prst="flowChartInputOut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Data Tables</a:t>
            </a:r>
            <a:endParaRPr lang="en-US" dirty="0"/>
          </a:p>
        </p:txBody>
      </p:sp>
      <p:sp>
        <p:nvSpPr>
          <p:cNvPr id="13" name="Flowchart: Data 12"/>
          <p:cNvSpPr/>
          <p:nvPr/>
        </p:nvSpPr>
        <p:spPr>
          <a:xfrm>
            <a:off x="4552950" y="2705100"/>
            <a:ext cx="1920240" cy="838200"/>
          </a:xfrm>
          <a:prstGeom prst="flowChartInputOutpu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Visual Structures</a:t>
            </a:r>
            <a:endParaRPr lang="en-US" dirty="0"/>
          </a:p>
        </p:txBody>
      </p:sp>
      <p:sp>
        <p:nvSpPr>
          <p:cNvPr id="14" name="Flowchart: Data 13"/>
          <p:cNvSpPr/>
          <p:nvPr/>
        </p:nvSpPr>
        <p:spPr>
          <a:xfrm>
            <a:off x="6381750" y="2705100"/>
            <a:ext cx="1920240" cy="838200"/>
          </a:xfrm>
          <a:prstGeom prst="flowChartInputOutpu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Views</a:t>
            </a:r>
            <a:endParaRPr lang="en-US" dirty="0"/>
          </a:p>
        </p:txBody>
      </p:sp>
      <p:sp>
        <p:nvSpPr>
          <p:cNvPr id="16" name="Flowchart: Process 15"/>
          <p:cNvSpPr/>
          <p:nvPr/>
        </p:nvSpPr>
        <p:spPr>
          <a:xfrm>
            <a:off x="3505200" y="4876800"/>
            <a:ext cx="1295400" cy="914400"/>
          </a:xfrm>
          <a:prstGeom prst="flowChartProcess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accent6">
                    <a:lumMod val="10000"/>
                  </a:schemeClr>
                </a:solidFill>
              </a:rPr>
              <a:t>Human Interaction</a:t>
            </a:r>
            <a:endParaRPr lang="en-US" dirty="0">
              <a:solidFill>
                <a:schemeClr val="accent6">
                  <a:lumMod val="10000"/>
                </a:schemeClr>
              </a:solidFill>
            </a:endParaRPr>
          </a:p>
        </p:txBody>
      </p:sp>
      <p:cxnSp>
        <p:nvCxnSpPr>
          <p:cNvPr id="17" name="Straight Arrow Connector 16"/>
          <p:cNvCxnSpPr>
            <a:stCxn id="11" idx="5"/>
            <a:endCxn id="12" idx="2"/>
          </p:cNvCxnSpPr>
          <p:nvPr/>
        </p:nvCxnSpPr>
        <p:spPr>
          <a:xfrm>
            <a:off x="2166366" y="3124200"/>
            <a:ext cx="292608" cy="0"/>
          </a:xfrm>
          <a:prstGeom prst="straightConnector1">
            <a:avLst/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2" idx="5"/>
            <a:endCxn id="13" idx="2"/>
          </p:cNvCxnSpPr>
          <p:nvPr/>
        </p:nvCxnSpPr>
        <p:spPr>
          <a:xfrm>
            <a:off x="3995166" y="3124200"/>
            <a:ext cx="749808" cy="0"/>
          </a:xfrm>
          <a:prstGeom prst="straightConnector1">
            <a:avLst/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13" idx="5"/>
            <a:endCxn id="14" idx="2"/>
          </p:cNvCxnSpPr>
          <p:nvPr/>
        </p:nvCxnSpPr>
        <p:spPr>
          <a:xfrm>
            <a:off x="6281166" y="3124200"/>
            <a:ext cx="292608" cy="0"/>
          </a:xfrm>
          <a:prstGeom prst="straightConnector1">
            <a:avLst/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Elbow Connector 19"/>
          <p:cNvCxnSpPr/>
          <p:nvPr/>
        </p:nvCxnSpPr>
        <p:spPr>
          <a:xfrm rot="16200000" flipV="1">
            <a:off x="2941320" y="3665220"/>
            <a:ext cx="670560" cy="1752600"/>
          </a:xfrm>
          <a:prstGeom prst="bentConnector3">
            <a:avLst/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Elbow Connector 20"/>
          <p:cNvCxnSpPr/>
          <p:nvPr/>
        </p:nvCxnSpPr>
        <p:spPr>
          <a:xfrm rot="5400000" flipH="1" flipV="1">
            <a:off x="4775835" y="3583305"/>
            <a:ext cx="670560" cy="1916430"/>
          </a:xfrm>
          <a:prstGeom prst="bentConnector3">
            <a:avLst>
              <a:gd name="adj1" fmla="val 50000"/>
            </a:avLst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V="1">
            <a:off x="4152900" y="4206240"/>
            <a:ext cx="0" cy="670560"/>
          </a:xfrm>
          <a:prstGeom prst="straightConnector1">
            <a:avLst/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1835273" y="3848100"/>
            <a:ext cx="11300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Transform</a:t>
            </a:r>
            <a:endParaRPr lang="en-US" dirty="0"/>
          </a:p>
        </p:txBody>
      </p:sp>
      <p:sp>
        <p:nvSpPr>
          <p:cNvPr id="24" name="Rectangle 23"/>
          <p:cNvSpPr/>
          <p:nvPr/>
        </p:nvSpPr>
        <p:spPr>
          <a:xfrm>
            <a:off x="3810000" y="3848100"/>
            <a:ext cx="6142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Map</a:t>
            </a:r>
            <a:endParaRPr lang="en-US" dirty="0"/>
          </a:p>
        </p:txBody>
      </p:sp>
      <p:sp>
        <p:nvSpPr>
          <p:cNvPr id="25" name="Rectangle 24"/>
          <p:cNvSpPr/>
          <p:nvPr/>
        </p:nvSpPr>
        <p:spPr>
          <a:xfrm>
            <a:off x="5541645" y="3848100"/>
            <a:ext cx="11300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Transform</a:t>
            </a:r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-236762" y="2103838"/>
            <a:ext cx="14917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rgbClr val="FF0000"/>
                </a:solidFill>
              </a:rPr>
              <a:t>Acquisition</a:t>
            </a:r>
            <a:endParaRPr lang="en-US" sz="1600" dirty="0">
              <a:solidFill>
                <a:srgbClr val="FF0000"/>
              </a:solidFill>
            </a:endParaRPr>
          </a:p>
        </p:txBody>
      </p:sp>
      <p:cxnSp>
        <p:nvCxnSpPr>
          <p:cNvPr id="27" name="Straight Arrow Connector 26"/>
          <p:cNvCxnSpPr/>
          <p:nvPr/>
        </p:nvCxnSpPr>
        <p:spPr>
          <a:xfrm>
            <a:off x="655617" y="2462912"/>
            <a:ext cx="182583" cy="214848"/>
          </a:xfrm>
          <a:prstGeom prst="straightConnector1">
            <a:avLst/>
          </a:prstGeom>
          <a:ln w="381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78088" y="6331241"/>
            <a:ext cx="13089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rgbClr val="FF0000"/>
                </a:solidFill>
              </a:rPr>
              <a:t>Hypotheses</a:t>
            </a:r>
            <a:endParaRPr lang="en-US" sz="1600" dirty="0">
              <a:solidFill>
                <a:srgbClr val="FF0000"/>
              </a:solidFill>
            </a:endParaRPr>
          </a:p>
        </p:txBody>
      </p:sp>
      <p:cxnSp>
        <p:nvCxnSpPr>
          <p:cNvPr id="29" name="Straight Arrow Connector 28"/>
          <p:cNvCxnSpPr>
            <a:endCxn id="28" idx="1"/>
          </p:cNvCxnSpPr>
          <p:nvPr/>
        </p:nvCxnSpPr>
        <p:spPr>
          <a:xfrm>
            <a:off x="6473190" y="6333434"/>
            <a:ext cx="304898" cy="167084"/>
          </a:xfrm>
          <a:prstGeom prst="straightConnector1">
            <a:avLst/>
          </a:prstGeom>
          <a:ln w="381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750830" y="873827"/>
            <a:ext cx="7393170" cy="5529166"/>
          </a:xfrm>
          <a:prstGeom prst="ellipse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32" name="TextBox 31"/>
          <p:cNvSpPr txBox="1"/>
          <p:nvPr/>
        </p:nvSpPr>
        <p:spPr>
          <a:xfrm>
            <a:off x="6554969" y="5039066"/>
            <a:ext cx="1776039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 smtClean="0">
                <a:solidFill>
                  <a:srgbClr val="FF0000"/>
                </a:solidFill>
              </a:rPr>
              <a:t>Summarize</a:t>
            </a:r>
            <a:endParaRPr lang="en-US" sz="2000" dirty="0" smtClean="0">
              <a:solidFill>
                <a:srgbClr val="FF0000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750830" y="3559928"/>
            <a:ext cx="1241925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 smtClean="0">
                <a:solidFill>
                  <a:srgbClr val="FF0000"/>
                </a:solidFill>
              </a:rPr>
              <a:t>Tabulate</a:t>
            </a:r>
          </a:p>
          <a:p>
            <a:pPr algn="ctr"/>
            <a:endParaRPr lang="en-US" sz="2000" dirty="0" smtClean="0">
              <a:solidFill>
                <a:srgbClr val="FF0000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534150" y="4531895"/>
            <a:ext cx="1796859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 smtClean="0">
                <a:solidFill>
                  <a:srgbClr val="FF0000"/>
                </a:solidFill>
              </a:rPr>
              <a:t>Model</a:t>
            </a:r>
            <a:endParaRPr lang="en-US" sz="2000" dirty="0" smtClean="0">
              <a:solidFill>
                <a:srgbClr val="FF0000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632417" y="1614965"/>
            <a:ext cx="1803466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 smtClean="0">
                <a:solidFill>
                  <a:srgbClr val="FF0000"/>
                </a:solidFill>
              </a:rPr>
              <a:t>Graph</a:t>
            </a:r>
          </a:p>
          <a:p>
            <a:pPr algn="ctr"/>
            <a:endParaRPr lang="en-US" sz="2000" dirty="0" smtClean="0">
              <a:solidFill>
                <a:srgbClr val="FF0000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265420" y="4903455"/>
            <a:ext cx="9892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EDA</a:t>
            </a:r>
            <a:endParaRPr lang="en-US" sz="2400" b="1" dirty="0">
              <a:solidFill>
                <a:srgbClr val="FF0000"/>
              </a:solidFill>
            </a:endParaRPr>
          </a:p>
        </p:txBody>
      </p:sp>
      <p:cxnSp>
        <p:nvCxnSpPr>
          <p:cNvPr id="37" name="Straight Arrow Connector 36"/>
          <p:cNvCxnSpPr/>
          <p:nvPr/>
        </p:nvCxnSpPr>
        <p:spPr>
          <a:xfrm flipH="1" flipV="1">
            <a:off x="7924800" y="1593916"/>
            <a:ext cx="223071" cy="158684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V="1">
            <a:off x="7848600" y="5562600"/>
            <a:ext cx="267913" cy="150322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/>
          <p:nvPr/>
        </p:nvCxnSpPr>
        <p:spPr>
          <a:xfrm>
            <a:off x="2590800" y="5410200"/>
            <a:ext cx="240722" cy="175645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endCxn id="31" idx="1"/>
          </p:cNvCxnSpPr>
          <p:nvPr/>
        </p:nvCxnSpPr>
        <p:spPr>
          <a:xfrm flipH="1">
            <a:off x="2833535" y="1447800"/>
            <a:ext cx="366865" cy="235755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57440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2" name="Shape 352"/>
          <p:cNvPicPr preferRelativeResize="0"/>
          <p:nvPr/>
        </p:nvPicPr>
        <p:blipFill rotWithShape="1">
          <a:blip r:embed="rId3">
            <a:alphaModFix/>
          </a:blip>
          <a:srcRect l="4176" r="6635"/>
          <a:stretch/>
        </p:blipFill>
        <p:spPr>
          <a:xfrm>
            <a:off x="-12275" y="0"/>
            <a:ext cx="917468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Shape 353"/>
          <p:cNvSpPr txBox="1"/>
          <p:nvPr/>
        </p:nvSpPr>
        <p:spPr>
          <a:xfrm>
            <a:off x="-596295" y="1145907"/>
            <a:ext cx="10319219" cy="470898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26760"/>
              </a:lnSpc>
              <a:spcBef>
                <a:spcPts val="0"/>
              </a:spcBef>
              <a:buSzPct val="25000"/>
              <a:buNone/>
            </a:pPr>
            <a:r>
              <a:rPr lang="en-US" sz="14200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CLOSING</a:t>
            </a:r>
          </a:p>
          <a:p>
            <a:pPr marL="0" marR="0" lvl="0" indent="0" algn="ctr" rtl="0">
              <a:lnSpc>
                <a:spcPct val="126760"/>
              </a:lnSpc>
              <a:spcBef>
                <a:spcPts val="0"/>
              </a:spcBef>
              <a:buSzPct val="25000"/>
              <a:buNone/>
            </a:pPr>
            <a:r>
              <a:rPr lang="en-US" sz="14200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REMARKS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3A3E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Shape 358"/>
          <p:cNvSpPr txBox="1"/>
          <p:nvPr/>
        </p:nvSpPr>
        <p:spPr>
          <a:xfrm>
            <a:off x="-119669" y="1074509"/>
            <a:ext cx="9358792" cy="470898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buSzPct val="25000"/>
              <a:buNone/>
            </a:pPr>
            <a:r>
              <a:rPr lang="en-US" sz="15000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QUEST</a:t>
            </a:r>
            <a:br>
              <a:rPr lang="en-US" sz="15000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</a:br>
            <a:r>
              <a:rPr lang="en-US" sz="15000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IONS .</a:t>
            </a:r>
          </a:p>
        </p:txBody>
      </p:sp>
      <p:pic>
        <p:nvPicPr>
          <p:cNvPr id="359" name="Shape 35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01896" y="3859932"/>
            <a:ext cx="1274700" cy="142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563</TotalTime>
  <Words>807</Words>
  <Application>Microsoft Office PowerPoint</Application>
  <PresentationFormat>On-screen Show (4:3)</PresentationFormat>
  <Paragraphs>258</Paragraphs>
  <Slides>30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Noto Sans Symbols</vt:lpstr>
      <vt:lpstr>Calibri</vt:lpstr>
      <vt:lpstr>Cabin</vt:lpstr>
      <vt:lpstr>Arial</vt:lpstr>
      <vt:lpstr>Open Sans</vt:lpstr>
      <vt:lpstr>Office Theme</vt:lpstr>
      <vt:lpstr>Visual Data Science</vt:lpstr>
      <vt:lpstr>MOTIVATING QUESTIONS: How do I go from nothing to my hypothesis?   Designing interactive visualizations for exploratory analysis</vt:lpstr>
      <vt:lpstr>OUTLINE</vt:lpstr>
      <vt:lpstr>What is a "data scientist?"</vt:lpstr>
      <vt:lpstr>Data science competencies</vt:lpstr>
      <vt:lpstr>Data science competencies</vt:lpstr>
      <vt:lpstr>Data science competencies</vt:lpstr>
      <vt:lpstr>Data science workflow</vt:lpstr>
      <vt:lpstr>Data science workflow</vt:lpstr>
      <vt:lpstr>Extract: Information retrieval</vt:lpstr>
      <vt:lpstr>Extract: "Webscraping"</vt:lpstr>
      <vt:lpstr>Transform [Info Systems]</vt:lpstr>
      <vt:lpstr>Transform [Mathematics]</vt:lpstr>
      <vt:lpstr>Transform [Comp &amp; Data Sci]</vt:lpstr>
      <vt:lpstr>Data science workflow</vt:lpstr>
      <vt:lpstr>Exploratory Data Analysis (EDA)</vt:lpstr>
      <vt:lpstr>[demonstration]</vt:lpstr>
      <vt:lpstr>PowerPoint Presentation</vt:lpstr>
      <vt:lpstr>Load (Stage/Publish) &amp; Archive</vt:lpstr>
      <vt:lpstr>Data science competencies</vt:lpstr>
      <vt:lpstr>Streaming Visualization</vt:lpstr>
      <vt:lpstr>Our process so far &amp; next step</vt:lpstr>
      <vt:lpstr>Our finished network of  continuous processes</vt:lpstr>
      <vt:lpstr>PowerPoint Presentation</vt:lpstr>
      <vt:lpstr>Data science workflow</vt:lpstr>
      <vt:lpstr>The Visualization Pipeline</vt:lpstr>
      <vt:lpstr>Exploratory Data Analysis (EDA)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Visual Data Science</dc:title>
  <cp:lastModifiedBy>Andrea Batch</cp:lastModifiedBy>
  <cp:revision>79</cp:revision>
  <dcterms:modified xsi:type="dcterms:W3CDTF">2018-04-26T15:51:27Z</dcterms:modified>
</cp:coreProperties>
</file>